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20"/>
  </p:notesMasterIdLst>
  <p:sldIdLst>
    <p:sldId id="256" r:id="rId2"/>
    <p:sldId id="258" r:id="rId3"/>
    <p:sldId id="257" r:id="rId4"/>
    <p:sldId id="259" r:id="rId5"/>
    <p:sldId id="260" r:id="rId6"/>
    <p:sldId id="264" r:id="rId7"/>
    <p:sldId id="261" r:id="rId8"/>
    <p:sldId id="273" r:id="rId9"/>
    <p:sldId id="271" r:id="rId10"/>
    <p:sldId id="272" r:id="rId11"/>
    <p:sldId id="274" r:id="rId12"/>
    <p:sldId id="275" r:id="rId13"/>
    <p:sldId id="276" r:id="rId14"/>
    <p:sldId id="268" r:id="rId15"/>
    <p:sldId id="266" r:id="rId16"/>
    <p:sldId id="269" r:id="rId17"/>
    <p:sldId id="265" r:id="rId18"/>
    <p:sldId id="270" r:id="rId19"/>
  </p:sldIdLst>
  <p:sldSz cx="12192000" cy="6858000"/>
  <p:notesSz cx="6858000" cy="9144000"/>
  <p:embeddedFontLst>
    <p:embeddedFont>
      <p:font typeface="Poppins" panose="000005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8">
          <p15:clr>
            <a:srgbClr val="A4A3A4"/>
          </p15:clr>
        </p15:guide>
        <p15:guide id="2" pos="666">
          <p15:clr>
            <a:srgbClr val="A4A3A4"/>
          </p15:clr>
        </p15:guide>
        <p15:guide id="3" pos="5972">
          <p15:clr>
            <a:srgbClr val="A4A3A4"/>
          </p15:clr>
        </p15:guide>
        <p15:guide id="4" pos="4271">
          <p15:clr>
            <a:srgbClr val="A4A3A4"/>
          </p15:clr>
        </p15:guide>
        <p15:guide id="5" orient="horz" pos="1842">
          <p15:clr>
            <a:srgbClr val="A4A3A4"/>
          </p15:clr>
        </p15:guide>
        <p15:guide id="6" orient="horz" pos="1638">
          <p15:clr>
            <a:srgbClr val="A4A3A4"/>
          </p15:clr>
        </p15:guide>
        <p15:guide id="7" pos="834">
          <p15:clr>
            <a:srgbClr val="747775"/>
          </p15:clr>
        </p15:guide>
        <p15:guide id="8" orient="horz" pos="581">
          <p15:clr>
            <a:srgbClr val="747775"/>
          </p15:clr>
        </p15:guide>
        <p15:guide id="9" pos="393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4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guide orient="horz" pos="4178"/>
        <p:guide pos="666"/>
        <p:guide pos="5972"/>
        <p:guide pos="4271"/>
        <p:guide orient="horz" pos="1842"/>
        <p:guide orient="horz" pos="1638"/>
        <p:guide pos="834"/>
        <p:guide orient="horz" pos="581"/>
        <p:guide pos="39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BD3BEAD-F9CF-F01E-33D2-8251C39E45C6}"/>
            </a:ext>
          </a:extLst>
        </p:cNvPr>
        <p:cNvGrpSpPr/>
        <p:nvPr/>
      </p:nvGrpSpPr>
      <p:grpSpPr>
        <a:xfrm>
          <a:off x="0" y="0"/>
          <a:ext cx="0" cy="0"/>
          <a:chOff x="0" y="0"/>
          <a:chExt cx="0" cy="0"/>
        </a:xfrm>
      </p:grpSpPr>
      <p:sp>
        <p:nvSpPr>
          <p:cNvPr id="233" name="Google Shape;233;p6:notes">
            <a:extLst>
              <a:ext uri="{FF2B5EF4-FFF2-40B4-BE49-F238E27FC236}">
                <a16:creationId xmlns:a16="http://schemas.microsoft.com/office/drawing/2014/main" id="{5DC492E4-9EDF-4E8B-22F2-BFBB550267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a:extLst>
              <a:ext uri="{FF2B5EF4-FFF2-40B4-BE49-F238E27FC236}">
                <a16:creationId xmlns:a16="http://schemas.microsoft.com/office/drawing/2014/main" id="{CE0698D8-82A0-8B90-B6BF-614C375DAC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7297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658E82AB-D351-79DB-0D8A-94DFC17A9146}"/>
            </a:ext>
          </a:extLst>
        </p:cNvPr>
        <p:cNvGrpSpPr/>
        <p:nvPr/>
      </p:nvGrpSpPr>
      <p:grpSpPr>
        <a:xfrm>
          <a:off x="0" y="0"/>
          <a:ext cx="0" cy="0"/>
          <a:chOff x="0" y="0"/>
          <a:chExt cx="0" cy="0"/>
        </a:xfrm>
      </p:grpSpPr>
      <p:sp>
        <p:nvSpPr>
          <p:cNvPr id="233" name="Google Shape;233;p6:notes">
            <a:extLst>
              <a:ext uri="{FF2B5EF4-FFF2-40B4-BE49-F238E27FC236}">
                <a16:creationId xmlns:a16="http://schemas.microsoft.com/office/drawing/2014/main" id="{6ADD40BB-570C-81A2-BB7D-F64C52A7D2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a:extLst>
              <a:ext uri="{FF2B5EF4-FFF2-40B4-BE49-F238E27FC236}">
                <a16:creationId xmlns:a16="http://schemas.microsoft.com/office/drawing/2014/main" id="{78015528-97CE-E9FB-AFD3-74F87E7443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655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F062B90F-B30C-3E9D-5880-B12FBE9663A6}"/>
            </a:ext>
          </a:extLst>
        </p:cNvPr>
        <p:cNvGrpSpPr/>
        <p:nvPr/>
      </p:nvGrpSpPr>
      <p:grpSpPr>
        <a:xfrm>
          <a:off x="0" y="0"/>
          <a:ext cx="0" cy="0"/>
          <a:chOff x="0" y="0"/>
          <a:chExt cx="0" cy="0"/>
        </a:xfrm>
      </p:grpSpPr>
      <p:sp>
        <p:nvSpPr>
          <p:cNvPr id="233" name="Google Shape;233;p6:notes">
            <a:extLst>
              <a:ext uri="{FF2B5EF4-FFF2-40B4-BE49-F238E27FC236}">
                <a16:creationId xmlns:a16="http://schemas.microsoft.com/office/drawing/2014/main" id="{E893C369-5019-B30D-EA93-F5A8C527D2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a:extLst>
              <a:ext uri="{FF2B5EF4-FFF2-40B4-BE49-F238E27FC236}">
                <a16:creationId xmlns:a16="http://schemas.microsoft.com/office/drawing/2014/main" id="{A4D4F0B3-D2A7-7DB8-FCFF-46E499BAA1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5925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64923E4A-812E-3839-B483-9A55B8355352}"/>
            </a:ext>
          </a:extLst>
        </p:cNvPr>
        <p:cNvGrpSpPr/>
        <p:nvPr/>
      </p:nvGrpSpPr>
      <p:grpSpPr>
        <a:xfrm>
          <a:off x="0" y="0"/>
          <a:ext cx="0" cy="0"/>
          <a:chOff x="0" y="0"/>
          <a:chExt cx="0" cy="0"/>
        </a:xfrm>
      </p:grpSpPr>
      <p:sp>
        <p:nvSpPr>
          <p:cNvPr id="233" name="Google Shape;233;p6:notes">
            <a:extLst>
              <a:ext uri="{FF2B5EF4-FFF2-40B4-BE49-F238E27FC236}">
                <a16:creationId xmlns:a16="http://schemas.microsoft.com/office/drawing/2014/main" id="{13D2BB65-249A-BEB0-E57A-68467C2F79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a:extLst>
              <a:ext uri="{FF2B5EF4-FFF2-40B4-BE49-F238E27FC236}">
                <a16:creationId xmlns:a16="http://schemas.microsoft.com/office/drawing/2014/main" id="{B1BC2D44-54D9-B0DF-BC87-567999C9F8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3500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B3992C8C-8EBF-B382-8AEF-6B20380CCC6D}"/>
            </a:ext>
          </a:extLst>
        </p:cNvPr>
        <p:cNvGrpSpPr/>
        <p:nvPr/>
      </p:nvGrpSpPr>
      <p:grpSpPr>
        <a:xfrm>
          <a:off x="0" y="0"/>
          <a:ext cx="0" cy="0"/>
          <a:chOff x="0" y="0"/>
          <a:chExt cx="0" cy="0"/>
        </a:xfrm>
      </p:grpSpPr>
      <p:sp>
        <p:nvSpPr>
          <p:cNvPr id="233" name="Google Shape;233;p6:notes">
            <a:extLst>
              <a:ext uri="{FF2B5EF4-FFF2-40B4-BE49-F238E27FC236}">
                <a16:creationId xmlns:a16="http://schemas.microsoft.com/office/drawing/2014/main" id="{D6E56E24-D2A8-F262-88A2-BD78A1D334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a:extLst>
              <a:ext uri="{FF2B5EF4-FFF2-40B4-BE49-F238E27FC236}">
                <a16:creationId xmlns:a16="http://schemas.microsoft.com/office/drawing/2014/main" id="{02364516-847A-314B-9566-F3947FBFEB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045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2DF69717-CC4E-4761-17E7-29FCB33759A3}"/>
            </a:ext>
          </a:extLst>
        </p:cNvPr>
        <p:cNvGrpSpPr/>
        <p:nvPr/>
      </p:nvGrpSpPr>
      <p:grpSpPr>
        <a:xfrm>
          <a:off x="0" y="0"/>
          <a:ext cx="0" cy="0"/>
          <a:chOff x="0" y="0"/>
          <a:chExt cx="0" cy="0"/>
        </a:xfrm>
      </p:grpSpPr>
      <p:sp>
        <p:nvSpPr>
          <p:cNvPr id="233" name="Google Shape;233;p6:notes">
            <a:extLst>
              <a:ext uri="{FF2B5EF4-FFF2-40B4-BE49-F238E27FC236}">
                <a16:creationId xmlns:a16="http://schemas.microsoft.com/office/drawing/2014/main" id="{E5AF197E-0740-2413-03E0-20C3143DA7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a:extLst>
              <a:ext uri="{FF2B5EF4-FFF2-40B4-BE49-F238E27FC236}">
                <a16:creationId xmlns:a16="http://schemas.microsoft.com/office/drawing/2014/main" id="{BE9B9E52-2D0B-96DB-4281-6F8A652178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5300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8" name="Google Shape;42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3"/>
        <p:cNvGrpSpPr/>
        <p:nvPr/>
      </p:nvGrpSpPr>
      <p:grpSpPr>
        <a:xfrm>
          <a:off x="0" y="0"/>
          <a:ext cx="0" cy="0"/>
          <a:chOff x="0" y="0"/>
          <a:chExt cx="0" cy="0"/>
        </a:xfrm>
      </p:grpSpPr>
      <p:sp>
        <p:nvSpPr>
          <p:cNvPr id="44" name="Google Shape;44;p2"/>
          <p:cNvSpPr txBox="1">
            <a:spLocks noGrp="1"/>
          </p:cNvSpPr>
          <p:nvPr>
            <p:ph type="title"/>
          </p:nvPr>
        </p:nvSpPr>
        <p:spPr>
          <a:xfrm>
            <a:off x="971550" y="1327150"/>
            <a:ext cx="4328429" cy="1887696"/>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6000"/>
              <a:buFont typeface="Poppins"/>
              <a:buNone/>
              <a:defRPr sz="6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5"/>
        <p:cNvGrpSpPr/>
        <p:nvPr/>
      </p:nvGrpSpPr>
      <p:grpSpPr>
        <a:xfrm>
          <a:off x="0" y="0"/>
          <a:ext cx="0" cy="0"/>
          <a:chOff x="0" y="0"/>
          <a:chExt cx="0" cy="0"/>
        </a:xfrm>
      </p:grpSpPr>
      <p:sp>
        <p:nvSpPr>
          <p:cNvPr id="46" name="Google Shape;46;p3"/>
          <p:cNvSpPr txBox="1">
            <a:spLocks noGrp="1"/>
          </p:cNvSpPr>
          <p:nvPr>
            <p:ph type="title"/>
          </p:nvPr>
        </p:nvSpPr>
        <p:spPr>
          <a:xfrm>
            <a:off x="713072" y="653882"/>
            <a:ext cx="3810802"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3"/>
          <p:cNvSpPr txBox="1">
            <a:spLocks noGrp="1"/>
          </p:cNvSpPr>
          <p:nvPr>
            <p:ph type="body" idx="1"/>
          </p:nvPr>
        </p:nvSpPr>
        <p:spPr>
          <a:xfrm>
            <a:off x="1375977" y="1636046"/>
            <a:ext cx="3330776"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3"/>
          <p:cNvSpPr txBox="1">
            <a:spLocks noGrp="1"/>
          </p:cNvSpPr>
          <p:nvPr>
            <p:ph type="body" idx="2"/>
          </p:nvPr>
        </p:nvSpPr>
        <p:spPr>
          <a:xfrm>
            <a:off x="1383998" y="2394836"/>
            <a:ext cx="3330776"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9" name="Google Shape;49;p3"/>
          <p:cNvSpPr txBox="1">
            <a:spLocks noGrp="1"/>
          </p:cNvSpPr>
          <p:nvPr>
            <p:ph type="body" idx="3"/>
          </p:nvPr>
        </p:nvSpPr>
        <p:spPr>
          <a:xfrm>
            <a:off x="1382393" y="3150597"/>
            <a:ext cx="4084756"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3"/>
          <p:cNvSpPr txBox="1">
            <a:spLocks noGrp="1"/>
          </p:cNvSpPr>
          <p:nvPr>
            <p:ph type="body" idx="4"/>
          </p:nvPr>
        </p:nvSpPr>
        <p:spPr>
          <a:xfrm>
            <a:off x="1380788" y="3909389"/>
            <a:ext cx="2392314"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1" name="Google Shape;51;p3"/>
          <p:cNvSpPr txBox="1">
            <a:spLocks noGrp="1"/>
          </p:cNvSpPr>
          <p:nvPr>
            <p:ph type="body" idx="5"/>
          </p:nvPr>
        </p:nvSpPr>
        <p:spPr>
          <a:xfrm>
            <a:off x="1376997" y="4668181"/>
            <a:ext cx="4465538"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3"/>
          <p:cNvSpPr txBox="1">
            <a:spLocks noGrp="1"/>
          </p:cNvSpPr>
          <p:nvPr>
            <p:ph type="body" idx="6"/>
          </p:nvPr>
        </p:nvSpPr>
        <p:spPr>
          <a:xfrm>
            <a:off x="1385018" y="5417347"/>
            <a:ext cx="3206233"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53"/>
        <p:cNvGrpSpPr/>
        <p:nvPr/>
      </p:nvGrpSpPr>
      <p:grpSpPr>
        <a:xfrm>
          <a:off x="0" y="0"/>
          <a:ext cx="0" cy="0"/>
          <a:chOff x="0" y="0"/>
          <a:chExt cx="0" cy="0"/>
        </a:xfrm>
      </p:grpSpPr>
      <p:sp>
        <p:nvSpPr>
          <p:cNvPr id="54" name="Google Shape;54;p4"/>
          <p:cNvSpPr txBox="1">
            <a:spLocks noGrp="1"/>
          </p:cNvSpPr>
          <p:nvPr>
            <p:ph type="title"/>
          </p:nvPr>
        </p:nvSpPr>
        <p:spPr>
          <a:xfrm>
            <a:off x="711200" y="1825625"/>
            <a:ext cx="20701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a:off x="698500" y="593725"/>
            <a:ext cx="6159500" cy="92717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57"/>
        <p:cNvGrpSpPr/>
        <p:nvPr/>
      </p:nvGrpSpPr>
      <p:grpSpPr>
        <a:xfrm>
          <a:off x="0" y="0"/>
          <a:ext cx="0" cy="0"/>
          <a:chOff x="0" y="0"/>
          <a:chExt cx="0" cy="0"/>
        </a:xfrm>
      </p:grpSpPr>
      <p:sp>
        <p:nvSpPr>
          <p:cNvPr id="58" name="Google Shape;58;p6"/>
          <p:cNvSpPr txBox="1">
            <a:spLocks noGrp="1"/>
          </p:cNvSpPr>
          <p:nvPr>
            <p:ph type="title"/>
          </p:nvPr>
        </p:nvSpPr>
        <p:spPr>
          <a:xfrm>
            <a:off x="698500" y="592137"/>
            <a:ext cx="62230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59"/>
        <p:cNvGrpSpPr/>
        <p:nvPr/>
      </p:nvGrpSpPr>
      <p:grpSpPr>
        <a:xfrm>
          <a:off x="0" y="0"/>
          <a:ext cx="0" cy="0"/>
          <a:chOff x="0" y="0"/>
          <a:chExt cx="0" cy="0"/>
        </a:xfrm>
      </p:grpSpPr>
      <p:sp>
        <p:nvSpPr>
          <p:cNvPr id="60" name="Google Shape;60;p7"/>
          <p:cNvSpPr txBox="1">
            <a:spLocks noGrp="1"/>
          </p:cNvSpPr>
          <p:nvPr>
            <p:ph type="title"/>
          </p:nvPr>
        </p:nvSpPr>
        <p:spPr>
          <a:xfrm>
            <a:off x="714375" y="501650"/>
            <a:ext cx="5305425"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1" name="Google Shape;61;p7"/>
          <p:cNvSpPr txBox="1">
            <a:spLocks noGrp="1"/>
          </p:cNvSpPr>
          <p:nvPr>
            <p:ph type="body" idx="1"/>
          </p:nvPr>
        </p:nvSpPr>
        <p:spPr>
          <a:xfrm>
            <a:off x="1296889" y="2499861"/>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2" name="Google Shape;62;p7"/>
          <p:cNvSpPr txBox="1">
            <a:spLocks noGrp="1"/>
          </p:cNvSpPr>
          <p:nvPr>
            <p:ph type="body" idx="2"/>
          </p:nvPr>
        </p:nvSpPr>
        <p:spPr>
          <a:xfrm>
            <a:off x="4784294" y="2493493"/>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7"/>
          <p:cNvSpPr txBox="1">
            <a:spLocks noGrp="1"/>
          </p:cNvSpPr>
          <p:nvPr>
            <p:ph type="body" idx="3"/>
          </p:nvPr>
        </p:nvSpPr>
        <p:spPr>
          <a:xfrm>
            <a:off x="4785549" y="4722166"/>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4" name="Google Shape;64;p7"/>
          <p:cNvSpPr txBox="1">
            <a:spLocks noGrp="1"/>
          </p:cNvSpPr>
          <p:nvPr>
            <p:ph type="body" idx="4"/>
          </p:nvPr>
        </p:nvSpPr>
        <p:spPr>
          <a:xfrm>
            <a:off x="1289080" y="4729310"/>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4_Two Content">
  <p:cSld name="4_Two Content">
    <p:spTree>
      <p:nvGrpSpPr>
        <p:cNvPr id="1" name="Shape 75"/>
        <p:cNvGrpSpPr/>
        <p:nvPr/>
      </p:nvGrpSpPr>
      <p:grpSpPr>
        <a:xfrm>
          <a:off x="0" y="0"/>
          <a:ext cx="0" cy="0"/>
          <a:chOff x="0" y="0"/>
          <a:chExt cx="0" cy="0"/>
        </a:xfrm>
      </p:grpSpPr>
      <p:sp>
        <p:nvSpPr>
          <p:cNvPr id="76" name="Google Shape;76;p10"/>
          <p:cNvSpPr txBox="1">
            <a:spLocks noGrp="1"/>
          </p:cNvSpPr>
          <p:nvPr>
            <p:ph type="title"/>
          </p:nvPr>
        </p:nvSpPr>
        <p:spPr>
          <a:xfrm>
            <a:off x="698500" y="555625"/>
            <a:ext cx="60325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685800" y="530225"/>
            <a:ext cx="40386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11"/>
          <p:cNvSpPr txBox="1">
            <a:spLocks noGrp="1"/>
          </p:cNvSpPr>
          <p:nvPr>
            <p:ph type="body" idx="1"/>
          </p:nvPr>
        </p:nvSpPr>
        <p:spPr>
          <a:xfrm>
            <a:off x="3380740" y="1788160"/>
            <a:ext cx="1427480" cy="34394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11"/>
          <p:cNvSpPr txBox="1">
            <a:spLocks noGrp="1"/>
          </p:cNvSpPr>
          <p:nvPr>
            <p:ph type="body" idx="2"/>
          </p:nvPr>
        </p:nvSpPr>
        <p:spPr>
          <a:xfrm>
            <a:off x="3380740" y="3283180"/>
            <a:ext cx="1427480" cy="34394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1"/>
          <p:cNvSpPr txBox="1">
            <a:spLocks noGrp="1"/>
          </p:cNvSpPr>
          <p:nvPr>
            <p:ph type="body" idx="3"/>
          </p:nvPr>
        </p:nvSpPr>
        <p:spPr>
          <a:xfrm>
            <a:off x="3380740" y="4778200"/>
            <a:ext cx="1427480" cy="34394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713836" y="666105"/>
            <a:ext cx="6822745"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4" name="Google Shape;84;p12"/>
          <p:cNvSpPr txBox="1">
            <a:spLocks noGrp="1"/>
          </p:cNvSpPr>
          <p:nvPr>
            <p:ph type="body" idx="1"/>
          </p:nvPr>
        </p:nvSpPr>
        <p:spPr>
          <a:xfrm>
            <a:off x="1359435" y="2230923"/>
            <a:ext cx="1951656" cy="33009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12"/>
          <p:cNvSpPr txBox="1">
            <a:spLocks noGrp="1"/>
          </p:cNvSpPr>
          <p:nvPr>
            <p:ph type="body" idx="2"/>
          </p:nvPr>
        </p:nvSpPr>
        <p:spPr>
          <a:xfrm>
            <a:off x="4575877" y="3034364"/>
            <a:ext cx="1510498" cy="33009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711200" y="823118"/>
            <a:ext cx="64643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0" name="Google Shape;90;p14"/>
          <p:cNvSpPr txBox="1">
            <a:spLocks noGrp="1"/>
          </p:cNvSpPr>
          <p:nvPr>
            <p:ph type="body" idx="1"/>
          </p:nvPr>
        </p:nvSpPr>
        <p:spPr>
          <a:xfrm>
            <a:off x="67818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14"/>
          <p:cNvSpPr txBox="1">
            <a:spLocks noGrp="1"/>
          </p:cNvSpPr>
          <p:nvPr>
            <p:ph type="body" idx="2"/>
          </p:nvPr>
        </p:nvSpPr>
        <p:spPr>
          <a:xfrm>
            <a:off x="264414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14"/>
          <p:cNvSpPr txBox="1">
            <a:spLocks noGrp="1"/>
          </p:cNvSpPr>
          <p:nvPr>
            <p:ph type="body" idx="3"/>
          </p:nvPr>
        </p:nvSpPr>
        <p:spPr>
          <a:xfrm>
            <a:off x="463296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3" name="Google Shape;93;p14"/>
          <p:cNvSpPr txBox="1">
            <a:spLocks noGrp="1"/>
          </p:cNvSpPr>
          <p:nvPr>
            <p:ph type="body" idx="4"/>
          </p:nvPr>
        </p:nvSpPr>
        <p:spPr>
          <a:xfrm>
            <a:off x="660654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Blank">
  <p:cSld name="4_Blank">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1739900" y="1343025"/>
            <a:ext cx="32512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6" name="Google Shape;96;p15"/>
          <p:cNvSpPr txBox="1">
            <a:spLocks noGrp="1"/>
          </p:cNvSpPr>
          <p:nvPr>
            <p:ph type="body" idx="1"/>
          </p:nvPr>
        </p:nvSpPr>
        <p:spPr>
          <a:xfrm>
            <a:off x="1939925" y="2343150"/>
            <a:ext cx="1108075" cy="3157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7" name="Google Shape;97;p15"/>
          <p:cNvSpPr txBox="1">
            <a:spLocks noGrp="1"/>
          </p:cNvSpPr>
          <p:nvPr>
            <p:ph type="body" idx="2"/>
          </p:nvPr>
        </p:nvSpPr>
        <p:spPr>
          <a:xfrm>
            <a:off x="1939925" y="3314700"/>
            <a:ext cx="1831975" cy="3157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8" name="Google Shape;98;p15"/>
          <p:cNvSpPr txBox="1">
            <a:spLocks noGrp="1"/>
          </p:cNvSpPr>
          <p:nvPr>
            <p:ph type="body" idx="3"/>
          </p:nvPr>
        </p:nvSpPr>
        <p:spPr>
          <a:xfrm>
            <a:off x="1939925" y="4333875"/>
            <a:ext cx="1831975" cy="3157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722697" y="2933992"/>
            <a:ext cx="4366901" cy="990015"/>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6000"/>
              <a:buFont typeface="Poppins"/>
              <a:buNone/>
              <a:defRPr sz="6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1" name="Google Shape;101;p16"/>
          <p:cNvSpPr txBox="1">
            <a:spLocks noGrp="1"/>
          </p:cNvSpPr>
          <p:nvPr>
            <p:ph type="body" idx="1"/>
          </p:nvPr>
        </p:nvSpPr>
        <p:spPr>
          <a:xfrm>
            <a:off x="702177" y="3830119"/>
            <a:ext cx="3869824" cy="2862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262626"/>
              </a:buClr>
              <a:buSzPts val="1400"/>
              <a:buFont typeface="Arial"/>
              <a:buNone/>
              <a:defRPr sz="1400" b="0" i="0" u="none" strike="noStrike" cap="none">
                <a:solidFill>
                  <a:srgbClr val="262626"/>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9"/>
        <p:cNvGrpSpPr/>
        <p:nvPr/>
      </p:nvGrpSpPr>
      <p:grpSpPr>
        <a:xfrm>
          <a:off x="0" y="0"/>
          <a:ext cx="0" cy="0"/>
          <a:chOff x="0" y="0"/>
          <a:chExt cx="0" cy="0"/>
        </a:xfrm>
      </p:grpSpPr>
      <p:sp>
        <p:nvSpPr>
          <p:cNvPr id="10" name="Google Shape;10;p1"/>
          <p:cNvSpPr/>
          <p:nvPr/>
        </p:nvSpPr>
        <p:spPr>
          <a:xfrm rot="10800000" flipH="1">
            <a:off x="-4763" y="6308632"/>
            <a:ext cx="24521" cy="277906"/>
          </a:xfrm>
          <a:custGeom>
            <a:avLst/>
            <a:gdLst/>
            <a:ahLst/>
            <a:cxnLst/>
            <a:rect l="l" t="t" r="r" b="b"/>
            <a:pathLst>
              <a:path w="24521" h="277906" extrusionOk="0">
                <a:moveTo>
                  <a:pt x="24522" y="0"/>
                </a:moveTo>
                <a:cubicBezTo>
                  <a:pt x="24069" y="5605"/>
                  <a:pt x="23263" y="11249"/>
                  <a:pt x="23263" y="16854"/>
                </a:cubicBezTo>
                <a:cubicBezTo>
                  <a:pt x="23213" y="285793"/>
                  <a:pt x="23213" y="-9087"/>
                  <a:pt x="23213" y="259852"/>
                </a:cubicBezTo>
                <a:lnTo>
                  <a:pt x="23213" y="276826"/>
                </a:lnTo>
                <a:cubicBezTo>
                  <a:pt x="14149" y="277266"/>
                  <a:pt x="7100" y="277586"/>
                  <a:pt x="0" y="277906"/>
                </a:cubicBezTo>
                <a:cubicBezTo>
                  <a:pt x="0" y="-2682"/>
                  <a:pt x="0" y="280589"/>
                  <a:pt x="0" y="0"/>
                </a:cubicBezTo>
                <a:cubicBezTo>
                  <a:pt x="8157" y="0"/>
                  <a:pt x="16314" y="0"/>
                  <a:pt x="2447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p:nvPr/>
        </p:nvSpPr>
        <p:spPr>
          <a:xfrm rot="10800000" flipH="1">
            <a:off x="151482" y="6309834"/>
            <a:ext cx="24521" cy="276745"/>
          </a:xfrm>
          <a:custGeom>
            <a:avLst/>
            <a:gdLst/>
            <a:ahLst/>
            <a:cxnLst/>
            <a:rect l="l" t="t" r="r" b="b"/>
            <a:pathLst>
              <a:path w="24521" h="276745" extrusionOk="0">
                <a:moveTo>
                  <a:pt x="24472" y="40"/>
                </a:moveTo>
                <a:cubicBezTo>
                  <a:pt x="24270" y="5284"/>
                  <a:pt x="23867" y="10569"/>
                  <a:pt x="23867" y="15813"/>
                </a:cubicBezTo>
                <a:cubicBezTo>
                  <a:pt x="23867" y="285312"/>
                  <a:pt x="23867" y="-9047"/>
                  <a:pt x="23867" y="260452"/>
                </a:cubicBezTo>
                <a:cubicBezTo>
                  <a:pt x="23867" y="265656"/>
                  <a:pt x="23867" y="270861"/>
                  <a:pt x="23867" y="276745"/>
                </a:cubicBezTo>
                <a:lnTo>
                  <a:pt x="1057" y="276745"/>
                </a:lnTo>
                <a:cubicBezTo>
                  <a:pt x="1057" y="271741"/>
                  <a:pt x="1057" y="266657"/>
                  <a:pt x="1057" y="261573"/>
                </a:cubicBezTo>
                <a:cubicBezTo>
                  <a:pt x="1057" y="-7926"/>
                  <a:pt x="1057" y="286433"/>
                  <a:pt x="1057" y="16934"/>
                </a:cubicBezTo>
                <a:cubicBezTo>
                  <a:pt x="1057" y="11289"/>
                  <a:pt x="352" y="5645"/>
                  <a:pt x="0" y="0"/>
                </a:cubicBezTo>
                <a:lnTo>
                  <a:pt x="24522"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1"/>
          <p:cNvSpPr/>
          <p:nvPr/>
        </p:nvSpPr>
        <p:spPr>
          <a:xfrm rot="10800000" flipH="1">
            <a:off x="387437" y="6309873"/>
            <a:ext cx="24521" cy="276665"/>
          </a:xfrm>
          <a:custGeom>
            <a:avLst/>
            <a:gdLst/>
            <a:ahLst/>
            <a:cxnLst/>
            <a:rect l="l" t="t" r="r" b="b"/>
            <a:pathLst>
              <a:path w="24521" h="276665" extrusionOk="0">
                <a:moveTo>
                  <a:pt x="24421" y="0"/>
                </a:moveTo>
                <a:cubicBezTo>
                  <a:pt x="24119" y="5244"/>
                  <a:pt x="23565" y="10489"/>
                  <a:pt x="23565" y="15733"/>
                </a:cubicBezTo>
                <a:cubicBezTo>
                  <a:pt x="23565" y="285232"/>
                  <a:pt x="23565" y="-9127"/>
                  <a:pt x="23565" y="260372"/>
                </a:cubicBezTo>
                <a:lnTo>
                  <a:pt x="23565" y="276665"/>
                </a:lnTo>
                <a:lnTo>
                  <a:pt x="705" y="276665"/>
                </a:lnTo>
                <a:lnTo>
                  <a:pt x="705" y="261613"/>
                </a:lnTo>
                <a:cubicBezTo>
                  <a:pt x="705" y="-8287"/>
                  <a:pt x="705" y="285673"/>
                  <a:pt x="705" y="15773"/>
                </a:cubicBezTo>
                <a:cubicBezTo>
                  <a:pt x="705" y="10529"/>
                  <a:pt x="252" y="5284"/>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rot="10800000" flipH="1">
            <a:off x="623240" y="6309913"/>
            <a:ext cx="24521" cy="276625"/>
          </a:xfrm>
          <a:custGeom>
            <a:avLst/>
            <a:gdLst/>
            <a:ahLst/>
            <a:cxnLst/>
            <a:rect l="l" t="t" r="r" b="b"/>
            <a:pathLst>
              <a:path w="24521" h="276625" extrusionOk="0">
                <a:moveTo>
                  <a:pt x="24472" y="0"/>
                </a:moveTo>
                <a:cubicBezTo>
                  <a:pt x="24018" y="5645"/>
                  <a:pt x="23213" y="11249"/>
                  <a:pt x="23213" y="16894"/>
                </a:cubicBezTo>
                <a:cubicBezTo>
                  <a:pt x="23162" y="285953"/>
                  <a:pt x="23162" y="-8847"/>
                  <a:pt x="23162" y="260212"/>
                </a:cubicBezTo>
                <a:lnTo>
                  <a:pt x="23162" y="276625"/>
                </a:lnTo>
                <a:lnTo>
                  <a:pt x="504" y="276625"/>
                </a:lnTo>
                <a:cubicBezTo>
                  <a:pt x="504" y="271781"/>
                  <a:pt x="504" y="266657"/>
                  <a:pt x="504" y="261533"/>
                </a:cubicBezTo>
                <a:cubicBezTo>
                  <a:pt x="504" y="-8327"/>
                  <a:pt x="504" y="285633"/>
                  <a:pt x="504" y="15773"/>
                </a:cubicBezTo>
                <a:cubicBezTo>
                  <a:pt x="504" y="10529"/>
                  <a:pt x="151" y="5244"/>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1"/>
          <p:cNvSpPr/>
          <p:nvPr/>
        </p:nvSpPr>
        <p:spPr>
          <a:xfrm rot="10800000" flipH="1">
            <a:off x="779435" y="6309834"/>
            <a:ext cx="24521" cy="276745"/>
          </a:xfrm>
          <a:custGeom>
            <a:avLst/>
            <a:gdLst/>
            <a:ahLst/>
            <a:cxnLst/>
            <a:rect l="l" t="t" r="r" b="b"/>
            <a:pathLst>
              <a:path w="24521" h="276745" extrusionOk="0">
                <a:moveTo>
                  <a:pt x="24472" y="40"/>
                </a:moveTo>
                <a:cubicBezTo>
                  <a:pt x="24270" y="5284"/>
                  <a:pt x="23867" y="10569"/>
                  <a:pt x="23867" y="15813"/>
                </a:cubicBezTo>
                <a:cubicBezTo>
                  <a:pt x="23867" y="285312"/>
                  <a:pt x="23867" y="-9047"/>
                  <a:pt x="23867" y="260452"/>
                </a:cubicBezTo>
                <a:cubicBezTo>
                  <a:pt x="23867" y="265656"/>
                  <a:pt x="23867" y="270861"/>
                  <a:pt x="23867" y="276745"/>
                </a:cubicBezTo>
                <a:lnTo>
                  <a:pt x="1057" y="276745"/>
                </a:lnTo>
                <a:lnTo>
                  <a:pt x="1057" y="261573"/>
                </a:lnTo>
                <a:cubicBezTo>
                  <a:pt x="1057" y="-7926"/>
                  <a:pt x="1057" y="286433"/>
                  <a:pt x="1057" y="16934"/>
                </a:cubicBezTo>
                <a:cubicBezTo>
                  <a:pt x="1057" y="11289"/>
                  <a:pt x="352" y="5645"/>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rot="10800000" flipH="1">
            <a:off x="1015390" y="6309873"/>
            <a:ext cx="24521" cy="276665"/>
          </a:xfrm>
          <a:custGeom>
            <a:avLst/>
            <a:gdLst/>
            <a:ahLst/>
            <a:cxnLst/>
            <a:rect l="l" t="t" r="r" b="b"/>
            <a:pathLst>
              <a:path w="24521" h="276665" extrusionOk="0">
                <a:moveTo>
                  <a:pt x="24421" y="0"/>
                </a:moveTo>
                <a:cubicBezTo>
                  <a:pt x="24069" y="5645"/>
                  <a:pt x="23364" y="11289"/>
                  <a:pt x="23364" y="16934"/>
                </a:cubicBezTo>
                <a:cubicBezTo>
                  <a:pt x="23313" y="285993"/>
                  <a:pt x="23364" y="-8767"/>
                  <a:pt x="23364" y="260292"/>
                </a:cubicBezTo>
                <a:lnTo>
                  <a:pt x="23364" y="276665"/>
                </a:lnTo>
                <a:lnTo>
                  <a:pt x="705" y="276665"/>
                </a:lnTo>
                <a:lnTo>
                  <a:pt x="705" y="261573"/>
                </a:lnTo>
                <a:cubicBezTo>
                  <a:pt x="705" y="-8287"/>
                  <a:pt x="705" y="285673"/>
                  <a:pt x="705" y="15813"/>
                </a:cubicBezTo>
                <a:cubicBezTo>
                  <a:pt x="705" y="10569"/>
                  <a:pt x="252" y="5324"/>
                  <a:pt x="0" y="40"/>
                </a:cubicBezTo>
                <a:cubicBezTo>
                  <a:pt x="8157" y="40"/>
                  <a:pt x="16314" y="40"/>
                  <a:pt x="24522"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1407439" y="6309873"/>
            <a:ext cx="24521" cy="276665"/>
          </a:xfrm>
          <a:custGeom>
            <a:avLst/>
            <a:gdLst/>
            <a:ahLst/>
            <a:cxnLst/>
            <a:rect l="l" t="t" r="r" b="b"/>
            <a:pathLst>
              <a:path w="24521" h="276665" extrusionOk="0">
                <a:moveTo>
                  <a:pt x="24421" y="0"/>
                </a:moveTo>
                <a:cubicBezTo>
                  <a:pt x="24170" y="5244"/>
                  <a:pt x="23716" y="10489"/>
                  <a:pt x="23716" y="15773"/>
                </a:cubicBezTo>
                <a:cubicBezTo>
                  <a:pt x="23716" y="285232"/>
                  <a:pt x="23716" y="-9127"/>
                  <a:pt x="23716" y="260332"/>
                </a:cubicBezTo>
                <a:cubicBezTo>
                  <a:pt x="23716" y="265536"/>
                  <a:pt x="23716" y="270741"/>
                  <a:pt x="23716" y="276665"/>
                </a:cubicBezTo>
                <a:lnTo>
                  <a:pt x="1058" y="276665"/>
                </a:lnTo>
                <a:lnTo>
                  <a:pt x="1058" y="261493"/>
                </a:lnTo>
                <a:cubicBezTo>
                  <a:pt x="1058" y="-7966"/>
                  <a:pt x="1058" y="286393"/>
                  <a:pt x="1058" y="16934"/>
                </a:cubicBezTo>
                <a:cubicBezTo>
                  <a:pt x="1058" y="11289"/>
                  <a:pt x="353" y="5645"/>
                  <a:pt x="0" y="0"/>
                </a:cubicBezTo>
                <a:cubicBezTo>
                  <a:pt x="8157" y="0"/>
                  <a:pt x="16315"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7;p1"/>
          <p:cNvSpPr/>
          <p:nvPr/>
        </p:nvSpPr>
        <p:spPr>
          <a:xfrm rot="10800000" flipH="1">
            <a:off x="1643293" y="6309873"/>
            <a:ext cx="24522" cy="276665"/>
          </a:xfrm>
          <a:custGeom>
            <a:avLst/>
            <a:gdLst/>
            <a:ahLst/>
            <a:cxnLst/>
            <a:rect l="l" t="t" r="r" b="b"/>
            <a:pathLst>
              <a:path w="24522" h="276665" extrusionOk="0">
                <a:moveTo>
                  <a:pt x="24472" y="0"/>
                </a:moveTo>
                <a:cubicBezTo>
                  <a:pt x="24119" y="5645"/>
                  <a:pt x="23414" y="11289"/>
                  <a:pt x="23414" y="16934"/>
                </a:cubicBezTo>
                <a:cubicBezTo>
                  <a:pt x="23364" y="286033"/>
                  <a:pt x="23414" y="-8727"/>
                  <a:pt x="23414" y="260332"/>
                </a:cubicBezTo>
                <a:lnTo>
                  <a:pt x="23414" y="276665"/>
                </a:lnTo>
                <a:lnTo>
                  <a:pt x="604" y="276665"/>
                </a:lnTo>
                <a:lnTo>
                  <a:pt x="604" y="261613"/>
                </a:lnTo>
                <a:cubicBezTo>
                  <a:pt x="604" y="-8287"/>
                  <a:pt x="604" y="285673"/>
                  <a:pt x="604" y="15773"/>
                </a:cubicBezTo>
                <a:cubicBezTo>
                  <a:pt x="604" y="10529"/>
                  <a:pt x="201" y="5244"/>
                  <a:pt x="0" y="0"/>
                </a:cubicBezTo>
                <a:cubicBezTo>
                  <a:pt x="8157" y="0"/>
                  <a:pt x="16315"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8;p1"/>
          <p:cNvSpPr/>
          <p:nvPr/>
        </p:nvSpPr>
        <p:spPr>
          <a:xfrm rot="10800000" flipH="1">
            <a:off x="1799488" y="6309874"/>
            <a:ext cx="24521" cy="276705"/>
          </a:xfrm>
          <a:custGeom>
            <a:avLst/>
            <a:gdLst/>
            <a:ahLst/>
            <a:cxnLst/>
            <a:rect l="l" t="t" r="r" b="b"/>
            <a:pathLst>
              <a:path w="24521" h="276705" extrusionOk="0">
                <a:moveTo>
                  <a:pt x="24472" y="40"/>
                </a:moveTo>
                <a:cubicBezTo>
                  <a:pt x="24270" y="5284"/>
                  <a:pt x="23968" y="10569"/>
                  <a:pt x="23968" y="15813"/>
                </a:cubicBezTo>
                <a:cubicBezTo>
                  <a:pt x="23968" y="285272"/>
                  <a:pt x="23968" y="-9127"/>
                  <a:pt x="23968" y="260332"/>
                </a:cubicBezTo>
                <a:lnTo>
                  <a:pt x="23968" y="276705"/>
                </a:lnTo>
                <a:lnTo>
                  <a:pt x="1309" y="276705"/>
                </a:lnTo>
                <a:cubicBezTo>
                  <a:pt x="1309" y="271261"/>
                  <a:pt x="1309" y="265736"/>
                  <a:pt x="1309" y="260212"/>
                </a:cubicBezTo>
                <a:cubicBezTo>
                  <a:pt x="1309" y="-8847"/>
                  <a:pt x="1309" y="285953"/>
                  <a:pt x="1259" y="16894"/>
                </a:cubicBezTo>
                <a:cubicBezTo>
                  <a:pt x="1259" y="11249"/>
                  <a:pt x="453" y="5645"/>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19;p1"/>
          <p:cNvSpPr/>
          <p:nvPr/>
        </p:nvSpPr>
        <p:spPr>
          <a:xfrm rot="10800000" flipH="1">
            <a:off x="2035442" y="6309833"/>
            <a:ext cx="24521" cy="276705"/>
          </a:xfrm>
          <a:custGeom>
            <a:avLst/>
            <a:gdLst/>
            <a:ahLst/>
            <a:cxnLst/>
            <a:rect l="l" t="t" r="r" b="b"/>
            <a:pathLst>
              <a:path w="24521" h="276705" extrusionOk="0">
                <a:moveTo>
                  <a:pt x="24421" y="0"/>
                </a:moveTo>
                <a:cubicBezTo>
                  <a:pt x="24170" y="5244"/>
                  <a:pt x="23716" y="10489"/>
                  <a:pt x="23716" y="15773"/>
                </a:cubicBezTo>
                <a:cubicBezTo>
                  <a:pt x="23716" y="285272"/>
                  <a:pt x="23716" y="-9087"/>
                  <a:pt x="23716" y="260412"/>
                </a:cubicBezTo>
                <a:cubicBezTo>
                  <a:pt x="23716" y="265616"/>
                  <a:pt x="23716" y="270781"/>
                  <a:pt x="23716" y="276705"/>
                </a:cubicBezTo>
                <a:lnTo>
                  <a:pt x="856" y="276705"/>
                </a:lnTo>
                <a:lnTo>
                  <a:pt x="856" y="261613"/>
                </a:lnTo>
                <a:cubicBezTo>
                  <a:pt x="856" y="-8287"/>
                  <a:pt x="856" y="285673"/>
                  <a:pt x="856" y="15773"/>
                </a:cubicBezTo>
                <a:cubicBezTo>
                  <a:pt x="856" y="10529"/>
                  <a:pt x="302" y="5284"/>
                  <a:pt x="0" y="40"/>
                </a:cubicBezTo>
                <a:cubicBezTo>
                  <a:pt x="8157" y="40"/>
                  <a:pt x="16315" y="40"/>
                  <a:pt x="24522"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20;p1"/>
          <p:cNvSpPr/>
          <p:nvPr/>
        </p:nvSpPr>
        <p:spPr>
          <a:xfrm rot="10800000" flipH="1">
            <a:off x="2271246" y="6309873"/>
            <a:ext cx="24521" cy="276665"/>
          </a:xfrm>
          <a:custGeom>
            <a:avLst/>
            <a:gdLst/>
            <a:ahLst/>
            <a:cxnLst/>
            <a:rect l="l" t="t" r="r" b="b"/>
            <a:pathLst>
              <a:path w="24521" h="276665" extrusionOk="0">
                <a:moveTo>
                  <a:pt x="24472" y="0"/>
                </a:moveTo>
                <a:cubicBezTo>
                  <a:pt x="24119" y="5645"/>
                  <a:pt x="23414" y="11289"/>
                  <a:pt x="23414" y="16934"/>
                </a:cubicBezTo>
                <a:cubicBezTo>
                  <a:pt x="23364" y="286033"/>
                  <a:pt x="23414" y="-8727"/>
                  <a:pt x="23414" y="260332"/>
                </a:cubicBezTo>
                <a:lnTo>
                  <a:pt x="23414" y="276665"/>
                </a:lnTo>
                <a:lnTo>
                  <a:pt x="604" y="276665"/>
                </a:lnTo>
                <a:lnTo>
                  <a:pt x="604" y="261613"/>
                </a:lnTo>
                <a:cubicBezTo>
                  <a:pt x="604" y="-8287"/>
                  <a:pt x="604" y="285673"/>
                  <a:pt x="604" y="15773"/>
                </a:cubicBezTo>
                <a:cubicBezTo>
                  <a:pt x="604" y="10529"/>
                  <a:pt x="201" y="5244"/>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21;p1"/>
          <p:cNvSpPr/>
          <p:nvPr/>
        </p:nvSpPr>
        <p:spPr>
          <a:xfrm rot="10800000" flipH="1">
            <a:off x="2427391" y="6309874"/>
            <a:ext cx="24522" cy="276705"/>
          </a:xfrm>
          <a:custGeom>
            <a:avLst/>
            <a:gdLst/>
            <a:ahLst/>
            <a:cxnLst/>
            <a:rect l="l" t="t" r="r" b="b"/>
            <a:pathLst>
              <a:path w="24522" h="276705" extrusionOk="0">
                <a:moveTo>
                  <a:pt x="24522" y="40"/>
                </a:moveTo>
                <a:cubicBezTo>
                  <a:pt x="24321" y="5284"/>
                  <a:pt x="23918" y="10569"/>
                  <a:pt x="23918" y="15813"/>
                </a:cubicBezTo>
                <a:cubicBezTo>
                  <a:pt x="23918" y="285272"/>
                  <a:pt x="23918" y="-9127"/>
                  <a:pt x="23918" y="260332"/>
                </a:cubicBezTo>
                <a:cubicBezTo>
                  <a:pt x="23918" y="265536"/>
                  <a:pt x="23918" y="270741"/>
                  <a:pt x="23918" y="276705"/>
                </a:cubicBezTo>
                <a:lnTo>
                  <a:pt x="1309" y="276705"/>
                </a:lnTo>
                <a:cubicBezTo>
                  <a:pt x="1309" y="271261"/>
                  <a:pt x="1309" y="265736"/>
                  <a:pt x="1309" y="260212"/>
                </a:cubicBezTo>
                <a:cubicBezTo>
                  <a:pt x="1309" y="-8847"/>
                  <a:pt x="1309" y="285953"/>
                  <a:pt x="1259" y="16894"/>
                </a:cubicBezTo>
                <a:cubicBezTo>
                  <a:pt x="1259" y="11249"/>
                  <a:pt x="453" y="5645"/>
                  <a:pt x="0" y="0"/>
                </a:cubicBezTo>
                <a:cubicBezTo>
                  <a:pt x="8157" y="0"/>
                  <a:pt x="16315"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1"/>
          <p:cNvSpPr/>
          <p:nvPr/>
        </p:nvSpPr>
        <p:spPr>
          <a:xfrm rot="10800000" flipH="1">
            <a:off x="74895"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1"/>
          <p:cNvSpPr/>
          <p:nvPr/>
        </p:nvSpPr>
        <p:spPr>
          <a:xfrm rot="10800000" flipH="1">
            <a:off x="231090" y="6309833"/>
            <a:ext cx="22306" cy="276705"/>
          </a:xfrm>
          <a:custGeom>
            <a:avLst/>
            <a:gdLst/>
            <a:ahLst/>
            <a:cxnLst/>
            <a:rect l="l" t="t" r="r" b="b"/>
            <a:pathLst>
              <a:path w="22306" h="276705" extrusionOk="0">
                <a:moveTo>
                  <a:pt x="21450" y="0"/>
                </a:moveTo>
                <a:cubicBezTo>
                  <a:pt x="21753" y="5244"/>
                  <a:pt x="22306" y="10489"/>
                  <a:pt x="22306" y="15773"/>
                </a:cubicBezTo>
                <a:cubicBezTo>
                  <a:pt x="22306" y="284872"/>
                  <a:pt x="22306" y="-9888"/>
                  <a:pt x="22306" y="259211"/>
                </a:cubicBezTo>
                <a:lnTo>
                  <a:pt x="22306" y="276705"/>
                </a:lnTo>
                <a:lnTo>
                  <a:pt x="403" y="276705"/>
                </a:lnTo>
                <a:cubicBezTo>
                  <a:pt x="403" y="271901"/>
                  <a:pt x="403" y="266777"/>
                  <a:pt x="403" y="261693"/>
                </a:cubicBezTo>
                <a:cubicBezTo>
                  <a:pt x="403" y="-7806"/>
                  <a:pt x="403" y="286553"/>
                  <a:pt x="403" y="17054"/>
                </a:cubicBezTo>
                <a:cubicBezTo>
                  <a:pt x="403" y="11369"/>
                  <a:pt x="151" y="5725"/>
                  <a:pt x="0" y="40"/>
                </a:cubicBezTo>
                <a:lnTo>
                  <a:pt x="21450" y="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24;p1"/>
          <p:cNvSpPr/>
          <p:nvPr/>
        </p:nvSpPr>
        <p:spPr>
          <a:xfrm rot="10800000" flipH="1">
            <a:off x="310245" y="6309873"/>
            <a:ext cx="22004" cy="276665"/>
          </a:xfrm>
          <a:custGeom>
            <a:avLst/>
            <a:gdLst/>
            <a:ahLst/>
            <a:cxnLst/>
            <a:rect l="l" t="t" r="r" b="b"/>
            <a:pathLst>
              <a:path w="22004" h="276665" extrusionOk="0">
                <a:moveTo>
                  <a:pt x="21954" y="0"/>
                </a:moveTo>
                <a:cubicBezTo>
                  <a:pt x="21853" y="17014"/>
                  <a:pt x="21652" y="34028"/>
                  <a:pt x="21652" y="51042"/>
                </a:cubicBezTo>
                <a:cubicBezTo>
                  <a:pt x="21652" y="308772"/>
                  <a:pt x="21652" y="2642"/>
                  <a:pt x="21652" y="260372"/>
                </a:cubicBezTo>
                <a:cubicBezTo>
                  <a:pt x="21652" y="265576"/>
                  <a:pt x="21652" y="270741"/>
                  <a:pt x="21652" y="276665"/>
                </a:cubicBezTo>
                <a:lnTo>
                  <a:pt x="957" y="276665"/>
                </a:lnTo>
                <a:cubicBezTo>
                  <a:pt x="655" y="272582"/>
                  <a:pt x="0" y="268299"/>
                  <a:pt x="0" y="263975"/>
                </a:cubicBezTo>
                <a:cubicBezTo>
                  <a:pt x="0" y="-8727"/>
                  <a:pt x="0" y="282390"/>
                  <a:pt x="0" y="9688"/>
                </a:cubicBezTo>
                <a:cubicBezTo>
                  <a:pt x="0" y="6445"/>
                  <a:pt x="352" y="3203"/>
                  <a:pt x="554" y="0"/>
                </a:cubicBezTo>
                <a:lnTo>
                  <a:pt x="2200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25;p1"/>
          <p:cNvSpPr/>
          <p:nvPr/>
        </p:nvSpPr>
        <p:spPr>
          <a:xfrm rot="10800000" flipH="1">
            <a:off x="466944" y="6309914"/>
            <a:ext cx="21752" cy="276665"/>
          </a:xfrm>
          <a:custGeom>
            <a:avLst/>
            <a:gdLst/>
            <a:ahLst/>
            <a:cxnLst/>
            <a:rect l="l" t="t" r="r" b="b"/>
            <a:pathLst>
              <a:path w="21752" h="276665" extrusionOk="0">
                <a:moveTo>
                  <a:pt x="21450" y="40"/>
                </a:moveTo>
                <a:cubicBezTo>
                  <a:pt x="21551" y="11770"/>
                  <a:pt x="21753" y="23539"/>
                  <a:pt x="21753" y="35269"/>
                </a:cubicBezTo>
                <a:cubicBezTo>
                  <a:pt x="21753" y="297843"/>
                  <a:pt x="21753" y="-3443"/>
                  <a:pt x="21753" y="259131"/>
                </a:cubicBezTo>
                <a:lnTo>
                  <a:pt x="21753" y="276665"/>
                </a:lnTo>
                <a:lnTo>
                  <a:pt x="0" y="276665"/>
                </a:lnTo>
                <a:cubicBezTo>
                  <a:pt x="0" y="-336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 name="Google Shape;26;p1"/>
          <p:cNvSpPr/>
          <p:nvPr/>
        </p:nvSpPr>
        <p:spPr>
          <a:xfrm rot="10800000" flipH="1">
            <a:off x="545356" y="6309793"/>
            <a:ext cx="22746" cy="276745"/>
          </a:xfrm>
          <a:custGeom>
            <a:avLst/>
            <a:gdLst/>
            <a:ahLst/>
            <a:cxnLst/>
            <a:rect l="l" t="t" r="r" b="b"/>
            <a:pathLst>
              <a:path w="22746" h="276745" extrusionOk="0">
                <a:moveTo>
                  <a:pt x="22697" y="0"/>
                </a:moveTo>
                <a:cubicBezTo>
                  <a:pt x="22546" y="5244"/>
                  <a:pt x="22243" y="10529"/>
                  <a:pt x="22243" y="15773"/>
                </a:cubicBezTo>
                <a:cubicBezTo>
                  <a:pt x="22243" y="285312"/>
                  <a:pt x="22243" y="-9007"/>
                  <a:pt x="22243" y="260532"/>
                </a:cubicBezTo>
                <a:lnTo>
                  <a:pt x="22243" y="276745"/>
                </a:lnTo>
                <a:lnTo>
                  <a:pt x="1297" y="276745"/>
                </a:lnTo>
                <a:cubicBezTo>
                  <a:pt x="843" y="272182"/>
                  <a:pt x="38" y="267538"/>
                  <a:pt x="38" y="262894"/>
                </a:cubicBezTo>
                <a:cubicBezTo>
                  <a:pt x="-13" y="-8647"/>
                  <a:pt x="-13" y="283631"/>
                  <a:pt x="38" y="12050"/>
                </a:cubicBezTo>
                <a:cubicBezTo>
                  <a:pt x="38" y="8047"/>
                  <a:pt x="843" y="4003"/>
                  <a:pt x="1297" y="0"/>
                </a:cubicBezTo>
                <a:cubicBezTo>
                  <a:pt x="8447" y="0"/>
                  <a:pt x="15597" y="0"/>
                  <a:pt x="22747"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 name="Google Shape;27;p1"/>
          <p:cNvSpPr/>
          <p:nvPr/>
        </p:nvSpPr>
        <p:spPr>
          <a:xfrm rot="10800000" flipH="1">
            <a:off x="702848"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28;p1"/>
          <p:cNvSpPr/>
          <p:nvPr/>
        </p:nvSpPr>
        <p:spPr>
          <a:xfrm rot="10800000" flipH="1">
            <a:off x="859043" y="6309833"/>
            <a:ext cx="22306" cy="276705"/>
          </a:xfrm>
          <a:custGeom>
            <a:avLst/>
            <a:gdLst/>
            <a:ahLst/>
            <a:cxnLst/>
            <a:rect l="l" t="t" r="r" b="b"/>
            <a:pathLst>
              <a:path w="22306" h="276705" extrusionOk="0">
                <a:moveTo>
                  <a:pt x="21450" y="0"/>
                </a:moveTo>
                <a:cubicBezTo>
                  <a:pt x="21752" y="5244"/>
                  <a:pt x="22306" y="10489"/>
                  <a:pt x="22306" y="15773"/>
                </a:cubicBezTo>
                <a:cubicBezTo>
                  <a:pt x="22306" y="284872"/>
                  <a:pt x="22306" y="-9888"/>
                  <a:pt x="22306" y="259211"/>
                </a:cubicBezTo>
                <a:lnTo>
                  <a:pt x="22306" y="276705"/>
                </a:lnTo>
                <a:lnTo>
                  <a:pt x="403" y="276705"/>
                </a:lnTo>
                <a:lnTo>
                  <a:pt x="403" y="261693"/>
                </a:lnTo>
                <a:cubicBezTo>
                  <a:pt x="403" y="-7806"/>
                  <a:pt x="403" y="286553"/>
                  <a:pt x="403" y="17054"/>
                </a:cubicBezTo>
                <a:cubicBezTo>
                  <a:pt x="403" y="11369"/>
                  <a:pt x="151" y="5725"/>
                  <a:pt x="0" y="40"/>
                </a:cubicBezTo>
                <a:lnTo>
                  <a:pt x="21450" y="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29;p1"/>
          <p:cNvSpPr/>
          <p:nvPr/>
        </p:nvSpPr>
        <p:spPr>
          <a:xfrm rot="10800000" flipH="1">
            <a:off x="938199" y="6309833"/>
            <a:ext cx="22004" cy="276705"/>
          </a:xfrm>
          <a:custGeom>
            <a:avLst/>
            <a:gdLst/>
            <a:ahLst/>
            <a:cxnLst/>
            <a:rect l="l" t="t" r="r" b="b"/>
            <a:pathLst>
              <a:path w="22004" h="276705" extrusionOk="0">
                <a:moveTo>
                  <a:pt x="21954" y="0"/>
                </a:moveTo>
                <a:cubicBezTo>
                  <a:pt x="21803" y="5685"/>
                  <a:pt x="21551" y="11329"/>
                  <a:pt x="21551" y="17014"/>
                </a:cubicBezTo>
                <a:cubicBezTo>
                  <a:pt x="21551" y="286073"/>
                  <a:pt x="21551" y="-8687"/>
                  <a:pt x="21551" y="260372"/>
                </a:cubicBezTo>
                <a:lnTo>
                  <a:pt x="21551" y="276705"/>
                </a:lnTo>
                <a:lnTo>
                  <a:pt x="957" y="276705"/>
                </a:lnTo>
                <a:cubicBezTo>
                  <a:pt x="655" y="272582"/>
                  <a:pt x="0" y="268299"/>
                  <a:pt x="0" y="264015"/>
                </a:cubicBezTo>
                <a:cubicBezTo>
                  <a:pt x="0" y="-8687"/>
                  <a:pt x="0" y="282430"/>
                  <a:pt x="0" y="9728"/>
                </a:cubicBezTo>
                <a:cubicBezTo>
                  <a:pt x="0" y="6485"/>
                  <a:pt x="352" y="3243"/>
                  <a:pt x="554" y="40"/>
                </a:cubicBezTo>
                <a:cubicBezTo>
                  <a:pt x="7704" y="40"/>
                  <a:pt x="14854" y="40"/>
                  <a:pt x="22004"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0;p1"/>
          <p:cNvSpPr/>
          <p:nvPr/>
        </p:nvSpPr>
        <p:spPr>
          <a:xfrm rot="10800000" flipH="1">
            <a:off x="1094897" y="6309673"/>
            <a:ext cx="21450" cy="276865"/>
          </a:xfrm>
          <a:custGeom>
            <a:avLst/>
            <a:gdLst/>
            <a:ahLst/>
            <a:cxnLst/>
            <a:rect l="l" t="t" r="r" b="b"/>
            <a:pathLst>
              <a:path w="21450" h="276865" extrusionOk="0">
                <a:moveTo>
                  <a:pt x="21450" y="0"/>
                </a:moveTo>
                <a:cubicBezTo>
                  <a:pt x="21450" y="280068"/>
                  <a:pt x="21450" y="-3723"/>
                  <a:pt x="21450" y="276866"/>
                </a:cubicBezTo>
                <a:lnTo>
                  <a:pt x="201" y="276866"/>
                </a:lnTo>
                <a:lnTo>
                  <a:pt x="201" y="259652"/>
                </a:lnTo>
                <a:cubicBezTo>
                  <a:pt x="201" y="-9167"/>
                  <a:pt x="201" y="285833"/>
                  <a:pt x="201" y="17014"/>
                </a:cubicBezTo>
                <a:cubicBezTo>
                  <a:pt x="201" y="11329"/>
                  <a:pt x="101" y="564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Google Shape;31;p1"/>
          <p:cNvSpPr/>
          <p:nvPr/>
        </p:nvSpPr>
        <p:spPr>
          <a:xfrm rot="10800000" flipH="1">
            <a:off x="1173310" y="6309793"/>
            <a:ext cx="22746" cy="276745"/>
          </a:xfrm>
          <a:custGeom>
            <a:avLst/>
            <a:gdLst/>
            <a:ahLst/>
            <a:cxnLst/>
            <a:rect l="l" t="t" r="r" b="b"/>
            <a:pathLst>
              <a:path w="22746" h="276745" extrusionOk="0">
                <a:moveTo>
                  <a:pt x="22697" y="0"/>
                </a:moveTo>
                <a:cubicBezTo>
                  <a:pt x="22495" y="5244"/>
                  <a:pt x="22193" y="10529"/>
                  <a:pt x="22193" y="15773"/>
                </a:cubicBezTo>
                <a:cubicBezTo>
                  <a:pt x="22193" y="285312"/>
                  <a:pt x="22193" y="-9007"/>
                  <a:pt x="22193" y="260532"/>
                </a:cubicBezTo>
                <a:lnTo>
                  <a:pt x="22193" y="276745"/>
                </a:lnTo>
                <a:lnTo>
                  <a:pt x="1297" y="276745"/>
                </a:lnTo>
                <a:cubicBezTo>
                  <a:pt x="843" y="272182"/>
                  <a:pt x="38" y="267538"/>
                  <a:pt x="38" y="262894"/>
                </a:cubicBezTo>
                <a:cubicBezTo>
                  <a:pt x="-13" y="-8647"/>
                  <a:pt x="-13" y="283631"/>
                  <a:pt x="38" y="12090"/>
                </a:cubicBezTo>
                <a:cubicBezTo>
                  <a:pt x="38" y="8087"/>
                  <a:pt x="843" y="4043"/>
                  <a:pt x="1297" y="40"/>
                </a:cubicBezTo>
                <a:cubicBezTo>
                  <a:pt x="8447" y="40"/>
                  <a:pt x="15597" y="40"/>
                  <a:pt x="22747"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32;p1"/>
          <p:cNvSpPr/>
          <p:nvPr/>
        </p:nvSpPr>
        <p:spPr>
          <a:xfrm rot="10800000" flipH="1">
            <a:off x="1330801" y="6309714"/>
            <a:ext cx="21450" cy="276865"/>
          </a:xfrm>
          <a:custGeom>
            <a:avLst/>
            <a:gdLst/>
            <a:ahLst/>
            <a:cxnLst/>
            <a:rect l="l" t="t" r="r" b="b"/>
            <a:pathLst>
              <a:path w="21450" h="276865" extrusionOk="0">
                <a:moveTo>
                  <a:pt x="21450" y="40"/>
                </a:moveTo>
                <a:cubicBezTo>
                  <a:pt x="21400" y="225904"/>
                  <a:pt x="21249" y="13371"/>
                  <a:pt x="21249" y="113733"/>
                </a:cubicBezTo>
                <a:cubicBezTo>
                  <a:pt x="21249" y="163613"/>
                  <a:pt x="21249" y="213494"/>
                  <a:pt x="21249" y="263335"/>
                </a:cubicBezTo>
                <a:lnTo>
                  <a:pt x="21249" y="276866"/>
                </a:lnTo>
                <a:lnTo>
                  <a:pt x="0" y="276866"/>
                </a:lnTo>
                <a:cubicBezTo>
                  <a:pt x="0" y="-3723"/>
                  <a:pt x="0" y="28006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1"/>
          <p:cNvSpPr/>
          <p:nvPr/>
        </p:nvSpPr>
        <p:spPr>
          <a:xfrm rot="10800000" flipH="1">
            <a:off x="1486997" y="6309873"/>
            <a:ext cx="22004" cy="276665"/>
          </a:xfrm>
          <a:custGeom>
            <a:avLst/>
            <a:gdLst/>
            <a:ahLst/>
            <a:cxnLst/>
            <a:rect l="l" t="t" r="r" b="b"/>
            <a:pathLst>
              <a:path w="22004" h="276665" extrusionOk="0">
                <a:moveTo>
                  <a:pt x="21450" y="0"/>
                </a:moveTo>
                <a:cubicBezTo>
                  <a:pt x="21652" y="5244"/>
                  <a:pt x="22004" y="10529"/>
                  <a:pt x="22004" y="15773"/>
                </a:cubicBezTo>
                <a:cubicBezTo>
                  <a:pt x="22004" y="284832"/>
                  <a:pt x="22004" y="-9928"/>
                  <a:pt x="22004" y="259131"/>
                </a:cubicBezTo>
                <a:cubicBezTo>
                  <a:pt x="22004" y="264736"/>
                  <a:pt x="22004" y="270300"/>
                  <a:pt x="22004" y="276665"/>
                </a:cubicBezTo>
                <a:lnTo>
                  <a:pt x="403" y="276665"/>
                </a:lnTo>
                <a:lnTo>
                  <a:pt x="403" y="261573"/>
                </a:lnTo>
                <a:cubicBezTo>
                  <a:pt x="403" y="-7886"/>
                  <a:pt x="403" y="286473"/>
                  <a:pt x="403" y="17014"/>
                </a:cubicBezTo>
                <a:cubicBezTo>
                  <a:pt x="403" y="11329"/>
                  <a:pt x="151" y="568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34;p1"/>
          <p:cNvSpPr/>
          <p:nvPr/>
        </p:nvSpPr>
        <p:spPr>
          <a:xfrm rot="10800000" flipH="1">
            <a:off x="1565827" y="6309833"/>
            <a:ext cx="22328" cy="276705"/>
          </a:xfrm>
          <a:custGeom>
            <a:avLst/>
            <a:gdLst/>
            <a:ahLst/>
            <a:cxnLst/>
            <a:rect l="l" t="t" r="r" b="b"/>
            <a:pathLst>
              <a:path w="22328" h="276705" extrusionOk="0">
                <a:moveTo>
                  <a:pt x="22278" y="0"/>
                </a:moveTo>
                <a:cubicBezTo>
                  <a:pt x="22127" y="5685"/>
                  <a:pt x="21876" y="11329"/>
                  <a:pt x="21876" y="17014"/>
                </a:cubicBezTo>
                <a:cubicBezTo>
                  <a:pt x="21876" y="286113"/>
                  <a:pt x="21876" y="-8647"/>
                  <a:pt x="21876" y="260452"/>
                </a:cubicBezTo>
                <a:lnTo>
                  <a:pt x="21876" y="276705"/>
                </a:lnTo>
                <a:lnTo>
                  <a:pt x="1080" y="276705"/>
                </a:lnTo>
                <a:cubicBezTo>
                  <a:pt x="727" y="272582"/>
                  <a:pt x="22" y="268339"/>
                  <a:pt x="22" y="264055"/>
                </a:cubicBezTo>
                <a:cubicBezTo>
                  <a:pt x="-28" y="-8287"/>
                  <a:pt x="22" y="283231"/>
                  <a:pt x="22" y="10889"/>
                </a:cubicBezTo>
                <a:cubicBezTo>
                  <a:pt x="22" y="7246"/>
                  <a:pt x="576" y="3643"/>
                  <a:pt x="878" y="0"/>
                </a:cubicBezTo>
                <a:cubicBezTo>
                  <a:pt x="8029" y="0"/>
                  <a:pt x="15179" y="0"/>
                  <a:pt x="2232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35;p1"/>
          <p:cNvSpPr/>
          <p:nvPr/>
        </p:nvSpPr>
        <p:spPr>
          <a:xfrm rot="10800000" flipH="1">
            <a:off x="1722901"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1"/>
          <p:cNvSpPr/>
          <p:nvPr/>
        </p:nvSpPr>
        <p:spPr>
          <a:xfrm rot="10800000" flipH="1">
            <a:off x="1879146" y="6309873"/>
            <a:ext cx="22709" cy="276665"/>
          </a:xfrm>
          <a:custGeom>
            <a:avLst/>
            <a:gdLst/>
            <a:ahLst/>
            <a:cxnLst/>
            <a:rect l="l" t="t" r="r" b="b"/>
            <a:pathLst>
              <a:path w="22709" h="276665" extrusionOk="0">
                <a:moveTo>
                  <a:pt x="21400" y="0"/>
                </a:moveTo>
                <a:cubicBezTo>
                  <a:pt x="21853" y="4844"/>
                  <a:pt x="22659" y="9648"/>
                  <a:pt x="22659" y="14492"/>
                </a:cubicBezTo>
                <a:cubicBezTo>
                  <a:pt x="22709" y="284432"/>
                  <a:pt x="22709" y="-9488"/>
                  <a:pt x="22709" y="260452"/>
                </a:cubicBezTo>
                <a:lnTo>
                  <a:pt x="22709" y="276665"/>
                </a:lnTo>
                <a:lnTo>
                  <a:pt x="453" y="276665"/>
                </a:lnTo>
                <a:lnTo>
                  <a:pt x="453" y="261773"/>
                </a:lnTo>
                <a:cubicBezTo>
                  <a:pt x="453" y="-7766"/>
                  <a:pt x="453" y="286553"/>
                  <a:pt x="453" y="17014"/>
                </a:cubicBezTo>
                <a:cubicBezTo>
                  <a:pt x="453" y="11329"/>
                  <a:pt x="151" y="568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 name="Google Shape;37;p1"/>
          <p:cNvSpPr/>
          <p:nvPr/>
        </p:nvSpPr>
        <p:spPr>
          <a:xfrm rot="10800000" flipH="1">
            <a:off x="1958503" y="6309873"/>
            <a:ext cx="21702" cy="276665"/>
          </a:xfrm>
          <a:custGeom>
            <a:avLst/>
            <a:gdLst/>
            <a:ahLst/>
            <a:cxnLst/>
            <a:rect l="l" t="t" r="r" b="b"/>
            <a:pathLst>
              <a:path w="21702" h="276665" extrusionOk="0">
                <a:moveTo>
                  <a:pt x="21702" y="0"/>
                </a:moveTo>
                <a:cubicBezTo>
                  <a:pt x="21652" y="225704"/>
                  <a:pt x="21551" y="-112452"/>
                  <a:pt x="21501" y="113252"/>
                </a:cubicBezTo>
                <a:cubicBezTo>
                  <a:pt x="21501" y="163093"/>
                  <a:pt x="21501" y="212933"/>
                  <a:pt x="21501" y="262774"/>
                </a:cubicBezTo>
                <a:cubicBezTo>
                  <a:pt x="21501" y="267138"/>
                  <a:pt x="21501" y="271541"/>
                  <a:pt x="21501" y="276665"/>
                </a:cubicBezTo>
                <a:lnTo>
                  <a:pt x="1158" y="276665"/>
                </a:lnTo>
                <a:cubicBezTo>
                  <a:pt x="755" y="273383"/>
                  <a:pt x="0" y="269900"/>
                  <a:pt x="0" y="266417"/>
                </a:cubicBezTo>
                <a:cubicBezTo>
                  <a:pt x="0" y="-9127"/>
                  <a:pt x="0" y="279187"/>
                  <a:pt x="0" y="3643"/>
                </a:cubicBezTo>
                <a:cubicBezTo>
                  <a:pt x="0" y="2442"/>
                  <a:pt x="151" y="1201"/>
                  <a:pt x="252" y="0"/>
                </a:cubicBezTo>
                <a:cubicBezTo>
                  <a:pt x="7402" y="0"/>
                  <a:pt x="14552" y="0"/>
                  <a:pt x="2170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1"/>
          <p:cNvSpPr/>
          <p:nvPr/>
        </p:nvSpPr>
        <p:spPr>
          <a:xfrm rot="10800000" flipH="1">
            <a:off x="2114950" y="6309914"/>
            <a:ext cx="22004" cy="276665"/>
          </a:xfrm>
          <a:custGeom>
            <a:avLst/>
            <a:gdLst/>
            <a:ahLst/>
            <a:cxnLst/>
            <a:rect l="l" t="t" r="r" b="b"/>
            <a:pathLst>
              <a:path w="22004" h="276665" extrusionOk="0">
                <a:moveTo>
                  <a:pt x="21450" y="40"/>
                </a:moveTo>
                <a:cubicBezTo>
                  <a:pt x="21652" y="5284"/>
                  <a:pt x="22004" y="10569"/>
                  <a:pt x="22004" y="15813"/>
                </a:cubicBezTo>
                <a:cubicBezTo>
                  <a:pt x="22004" y="284872"/>
                  <a:pt x="22004" y="-9888"/>
                  <a:pt x="22004" y="259171"/>
                </a:cubicBezTo>
                <a:cubicBezTo>
                  <a:pt x="22004" y="264776"/>
                  <a:pt x="22004" y="270340"/>
                  <a:pt x="22004" y="276665"/>
                </a:cubicBezTo>
                <a:lnTo>
                  <a:pt x="302" y="276665"/>
                </a:lnTo>
                <a:lnTo>
                  <a:pt x="302" y="260372"/>
                </a:lnTo>
                <a:cubicBezTo>
                  <a:pt x="302" y="-8687"/>
                  <a:pt x="302" y="286073"/>
                  <a:pt x="302" y="17014"/>
                </a:cubicBezTo>
                <a:cubicBezTo>
                  <a:pt x="302" y="11329"/>
                  <a:pt x="101" y="568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1"/>
          <p:cNvSpPr/>
          <p:nvPr/>
        </p:nvSpPr>
        <p:spPr>
          <a:xfrm rot="10800000" flipH="1">
            <a:off x="2193765" y="6309833"/>
            <a:ext cx="22344" cy="276705"/>
          </a:xfrm>
          <a:custGeom>
            <a:avLst/>
            <a:gdLst/>
            <a:ahLst/>
            <a:cxnLst/>
            <a:rect l="l" t="t" r="r" b="b"/>
            <a:pathLst>
              <a:path w="22344" h="276705" extrusionOk="0">
                <a:moveTo>
                  <a:pt x="22294" y="0"/>
                </a:moveTo>
                <a:cubicBezTo>
                  <a:pt x="22143" y="5685"/>
                  <a:pt x="21891" y="11329"/>
                  <a:pt x="21891" y="17014"/>
                </a:cubicBezTo>
                <a:cubicBezTo>
                  <a:pt x="21891" y="286113"/>
                  <a:pt x="21891" y="-8647"/>
                  <a:pt x="21891" y="260452"/>
                </a:cubicBezTo>
                <a:lnTo>
                  <a:pt x="21891" y="276705"/>
                </a:lnTo>
                <a:lnTo>
                  <a:pt x="1095" y="276705"/>
                </a:lnTo>
                <a:cubicBezTo>
                  <a:pt x="743" y="272582"/>
                  <a:pt x="38" y="268339"/>
                  <a:pt x="38" y="264055"/>
                </a:cubicBezTo>
                <a:cubicBezTo>
                  <a:pt x="-13" y="-8287"/>
                  <a:pt x="-13" y="283231"/>
                  <a:pt x="38" y="10889"/>
                </a:cubicBezTo>
                <a:cubicBezTo>
                  <a:pt x="38" y="7246"/>
                  <a:pt x="592" y="3643"/>
                  <a:pt x="894" y="0"/>
                </a:cubicBezTo>
                <a:cubicBezTo>
                  <a:pt x="8044" y="0"/>
                  <a:pt x="15194" y="0"/>
                  <a:pt x="2234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1"/>
          <p:cNvSpPr/>
          <p:nvPr/>
        </p:nvSpPr>
        <p:spPr>
          <a:xfrm rot="10800000" flipH="1">
            <a:off x="2350854"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 name="Google Shape;41;p1"/>
          <p:cNvSpPr/>
          <p:nvPr/>
        </p:nvSpPr>
        <p:spPr>
          <a:xfrm rot="10800000" flipH="1">
            <a:off x="1251193" y="6309873"/>
            <a:ext cx="22709" cy="276665"/>
          </a:xfrm>
          <a:custGeom>
            <a:avLst/>
            <a:gdLst/>
            <a:ahLst/>
            <a:cxnLst/>
            <a:rect l="l" t="t" r="r" b="b"/>
            <a:pathLst>
              <a:path w="22709" h="276665" extrusionOk="0">
                <a:moveTo>
                  <a:pt x="21400" y="0"/>
                </a:moveTo>
                <a:cubicBezTo>
                  <a:pt x="21853" y="4844"/>
                  <a:pt x="22659" y="9648"/>
                  <a:pt x="22659" y="14492"/>
                </a:cubicBezTo>
                <a:cubicBezTo>
                  <a:pt x="22709" y="284432"/>
                  <a:pt x="22709" y="-9488"/>
                  <a:pt x="22709" y="260452"/>
                </a:cubicBezTo>
                <a:cubicBezTo>
                  <a:pt x="22709" y="265616"/>
                  <a:pt x="22709" y="270781"/>
                  <a:pt x="22709" y="276665"/>
                </a:cubicBezTo>
                <a:lnTo>
                  <a:pt x="504" y="276665"/>
                </a:lnTo>
                <a:cubicBezTo>
                  <a:pt x="504" y="271901"/>
                  <a:pt x="504" y="266817"/>
                  <a:pt x="504" y="261733"/>
                </a:cubicBezTo>
                <a:cubicBezTo>
                  <a:pt x="504" y="-8207"/>
                  <a:pt x="504" y="285713"/>
                  <a:pt x="504" y="15773"/>
                </a:cubicBezTo>
                <a:cubicBezTo>
                  <a:pt x="504" y="10529"/>
                  <a:pt x="151" y="5244"/>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42" name="Google Shape;42;p1"/>
          <p:cNvCxnSpPr/>
          <p:nvPr/>
        </p:nvCxnSpPr>
        <p:spPr>
          <a:xfrm>
            <a:off x="2552700" y="6464300"/>
            <a:ext cx="9639300" cy="0"/>
          </a:xfrm>
          <a:prstGeom prst="straightConnector1">
            <a:avLst/>
          </a:prstGeom>
          <a:noFill/>
          <a:ln w="952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6" r:id="rId7"/>
    <p:sldLayoutId id="2147483657" r:id="rId8"/>
    <p:sldLayoutId id="2147483658"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microsoft.com/office/2007/relationships/hdphoto" Target="../media/hdphoto2.wdp"/><Relationship Id="rId11" Type="http://schemas.openxmlformats.org/officeDocument/2006/relationships/image" Target="../media/image29.png"/><Relationship Id="rId5" Type="http://schemas.openxmlformats.org/officeDocument/2006/relationships/image" Target="../media/image24.png"/><Relationship Id="rId10" Type="http://schemas.openxmlformats.org/officeDocument/2006/relationships/image" Target="../media/image28.png"/><Relationship Id="rId4" Type="http://schemas.microsoft.com/office/2007/relationships/hdphoto" Target="../media/hdphoto1.wdp"/><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0.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3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2.png"/><Relationship Id="rId7"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8"/>
          <p:cNvPicPr preferRelativeResize="0"/>
          <p:nvPr/>
        </p:nvPicPr>
        <p:blipFill>
          <a:blip r:embed="rId3">
            <a:alphaModFix/>
          </a:blip>
          <a:stretch>
            <a:fillRect/>
          </a:stretch>
        </p:blipFill>
        <p:spPr>
          <a:xfrm>
            <a:off x="6248400" y="-15125"/>
            <a:ext cx="5943600" cy="6130093"/>
          </a:xfrm>
          <a:prstGeom prst="rect">
            <a:avLst/>
          </a:prstGeom>
          <a:noFill/>
          <a:ln>
            <a:noFill/>
          </a:ln>
        </p:spPr>
      </p:pic>
      <p:pic>
        <p:nvPicPr>
          <p:cNvPr id="110" name="Google Shape;110;p18"/>
          <p:cNvPicPr preferRelativeResize="0"/>
          <p:nvPr/>
        </p:nvPicPr>
        <p:blipFill rotWithShape="1">
          <a:blip r:embed="rId4">
            <a:alphaModFix/>
          </a:blip>
          <a:srcRect/>
          <a:stretch/>
        </p:blipFill>
        <p:spPr>
          <a:xfrm>
            <a:off x="8082178" y="1016000"/>
            <a:ext cx="2407580" cy="1207106"/>
          </a:xfrm>
          <a:prstGeom prst="rect">
            <a:avLst/>
          </a:prstGeom>
          <a:noFill/>
          <a:ln>
            <a:noFill/>
          </a:ln>
        </p:spPr>
      </p:pic>
      <p:pic>
        <p:nvPicPr>
          <p:cNvPr id="111" name="Google Shape;111;p18" descr="A cell phone with a hot dog on the screen&#10;&#10;Description automatically generated"/>
          <p:cNvPicPr preferRelativeResize="0"/>
          <p:nvPr/>
        </p:nvPicPr>
        <p:blipFill rotWithShape="1">
          <a:blip r:embed="rId5">
            <a:alphaModFix/>
          </a:blip>
          <a:srcRect/>
          <a:stretch/>
        </p:blipFill>
        <p:spPr>
          <a:xfrm>
            <a:off x="6216327" y="404120"/>
            <a:ext cx="4812421" cy="5878580"/>
          </a:xfrm>
          <a:prstGeom prst="rect">
            <a:avLst/>
          </a:prstGeom>
          <a:noFill/>
          <a:ln>
            <a:noFill/>
          </a:ln>
        </p:spPr>
      </p:pic>
      <p:pic>
        <p:nvPicPr>
          <p:cNvPr id="112" name="Google Shape;112;p18"/>
          <p:cNvPicPr preferRelativeResize="0"/>
          <p:nvPr/>
        </p:nvPicPr>
        <p:blipFill rotWithShape="1">
          <a:blip r:embed="rId6">
            <a:alphaModFix/>
          </a:blip>
          <a:srcRect/>
          <a:stretch/>
        </p:blipFill>
        <p:spPr>
          <a:xfrm rot="5400000">
            <a:off x="370436" y="730795"/>
            <a:ext cx="506904" cy="254150"/>
          </a:xfrm>
          <a:prstGeom prst="rect">
            <a:avLst/>
          </a:prstGeom>
          <a:noFill/>
          <a:ln>
            <a:noFill/>
          </a:ln>
        </p:spPr>
      </p:pic>
      <p:pic>
        <p:nvPicPr>
          <p:cNvPr id="113" name="Google Shape;113;p18"/>
          <p:cNvPicPr preferRelativeResize="0"/>
          <p:nvPr/>
        </p:nvPicPr>
        <p:blipFill rotWithShape="1">
          <a:blip r:embed="rId7">
            <a:alphaModFix/>
          </a:blip>
          <a:srcRect/>
          <a:stretch/>
        </p:blipFill>
        <p:spPr>
          <a:xfrm rot="-605715">
            <a:off x="5563358" y="3073754"/>
            <a:ext cx="292102" cy="228370"/>
          </a:xfrm>
          <a:prstGeom prst="rect">
            <a:avLst/>
          </a:prstGeom>
          <a:noFill/>
          <a:ln>
            <a:noFill/>
          </a:ln>
        </p:spPr>
      </p:pic>
      <p:pic>
        <p:nvPicPr>
          <p:cNvPr id="114" name="Google Shape;114;p18"/>
          <p:cNvPicPr preferRelativeResize="0"/>
          <p:nvPr/>
        </p:nvPicPr>
        <p:blipFill rotWithShape="1">
          <a:blip r:embed="rId8">
            <a:alphaModFix/>
          </a:blip>
          <a:srcRect/>
          <a:stretch/>
        </p:blipFill>
        <p:spPr>
          <a:xfrm rot="-589488">
            <a:off x="549181" y="1710763"/>
            <a:ext cx="512914" cy="401004"/>
          </a:xfrm>
          <a:prstGeom prst="rect">
            <a:avLst/>
          </a:prstGeom>
          <a:noFill/>
          <a:ln>
            <a:noFill/>
          </a:ln>
        </p:spPr>
      </p:pic>
      <p:pic>
        <p:nvPicPr>
          <p:cNvPr id="117" name="Google Shape;117;p18"/>
          <p:cNvPicPr preferRelativeResize="0"/>
          <p:nvPr/>
        </p:nvPicPr>
        <p:blipFill rotWithShape="1">
          <a:blip r:embed="rId9">
            <a:alphaModFix/>
          </a:blip>
          <a:srcRect/>
          <a:stretch/>
        </p:blipFill>
        <p:spPr>
          <a:xfrm>
            <a:off x="2625209" y="5928851"/>
            <a:ext cx="681451" cy="530047"/>
          </a:xfrm>
          <a:prstGeom prst="rect">
            <a:avLst/>
          </a:prstGeom>
          <a:noFill/>
          <a:ln>
            <a:noFill/>
          </a:ln>
        </p:spPr>
      </p:pic>
      <p:grpSp>
        <p:nvGrpSpPr>
          <p:cNvPr id="2" name="Group 1">
            <a:extLst>
              <a:ext uri="{FF2B5EF4-FFF2-40B4-BE49-F238E27FC236}">
                <a16:creationId xmlns:a16="http://schemas.microsoft.com/office/drawing/2014/main" id="{BD5BEDEC-E8F8-96F3-765C-A509FF584664}"/>
              </a:ext>
            </a:extLst>
          </p:cNvPr>
          <p:cNvGrpSpPr/>
          <p:nvPr/>
        </p:nvGrpSpPr>
        <p:grpSpPr>
          <a:xfrm>
            <a:off x="1003623" y="5073049"/>
            <a:ext cx="1945760" cy="385230"/>
            <a:chOff x="492236" y="5074897"/>
            <a:chExt cx="1945760" cy="385230"/>
          </a:xfrm>
        </p:grpSpPr>
        <p:sp>
          <p:nvSpPr>
            <p:cNvPr id="118" name="Google Shape;118;p18"/>
            <p:cNvSpPr/>
            <p:nvPr/>
          </p:nvSpPr>
          <p:spPr>
            <a:xfrm>
              <a:off x="492236" y="5074897"/>
              <a:ext cx="1922353" cy="385230"/>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18"/>
            <p:cNvSpPr txBox="1"/>
            <p:nvPr/>
          </p:nvSpPr>
          <p:spPr>
            <a:xfrm>
              <a:off x="531025" y="5128108"/>
              <a:ext cx="1906971"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lt1"/>
                  </a:solidFill>
                  <a:latin typeface="Poppins"/>
                  <a:ea typeface="Poppins"/>
                  <a:cs typeface="Poppins"/>
                  <a:sym typeface="Poppins"/>
                </a:rPr>
                <a:t>HIMANSHU JOSHI</a:t>
              </a:r>
              <a:endParaRPr sz="1200" b="1" dirty="0">
                <a:solidFill>
                  <a:schemeClr val="lt1"/>
                </a:solidFill>
                <a:latin typeface="Poppins"/>
                <a:ea typeface="Poppins"/>
                <a:cs typeface="Poppins"/>
                <a:sym typeface="Poppins"/>
              </a:endParaRPr>
            </a:p>
          </p:txBody>
        </p:sp>
      </p:grpSp>
      <p:sp>
        <p:nvSpPr>
          <p:cNvPr id="120" name="Google Shape;120;p18"/>
          <p:cNvSpPr txBox="1">
            <a:spLocks noGrp="1"/>
          </p:cNvSpPr>
          <p:nvPr>
            <p:ph type="title"/>
          </p:nvPr>
        </p:nvSpPr>
        <p:spPr>
          <a:xfrm>
            <a:off x="1003623" y="1638339"/>
            <a:ext cx="4705787" cy="2308284"/>
          </a:xfrm>
          <a:prstGeom prst="rect">
            <a:avLst/>
          </a:prstGeom>
          <a:noFill/>
          <a:ln>
            <a:noFill/>
          </a:ln>
        </p:spPr>
        <p:txBody>
          <a:bodyPr spcFirstLastPara="1" wrap="square" lIns="91425" tIns="45700" rIns="91425" bIns="45700" anchor="t" anchorCtr="0">
            <a:spAutoFit/>
          </a:bodyPr>
          <a:lstStyle/>
          <a:p>
            <a:pPr marL="0" lvl="0" indent="0" algn="l" rtl="0">
              <a:lnSpc>
                <a:spcPct val="80000"/>
              </a:lnSpc>
              <a:spcBef>
                <a:spcPts val="0"/>
              </a:spcBef>
              <a:spcAft>
                <a:spcPts val="0"/>
              </a:spcAft>
              <a:buClr>
                <a:schemeClr val="accent1"/>
              </a:buClr>
              <a:buSzPts val="6000"/>
              <a:buFont typeface="Poppins"/>
              <a:buNone/>
            </a:pPr>
            <a:r>
              <a:rPr lang="en-US" sz="6000" b="1" dirty="0">
                <a:solidFill>
                  <a:schemeClr val="accent1"/>
                </a:solidFill>
                <a:latin typeface="Poppins"/>
                <a:ea typeface="Poppins"/>
                <a:cs typeface="Poppins"/>
                <a:sym typeface="Poppins"/>
              </a:rPr>
              <a:t>Zomato </a:t>
            </a:r>
            <a:br>
              <a:rPr lang="en-US" sz="6000" b="1" dirty="0">
                <a:solidFill>
                  <a:schemeClr val="accent1"/>
                </a:solidFill>
                <a:latin typeface="Poppins"/>
                <a:ea typeface="Poppins"/>
                <a:cs typeface="Poppins"/>
                <a:sym typeface="Poppins"/>
              </a:rPr>
            </a:br>
            <a:r>
              <a:rPr lang="en-US" dirty="0"/>
              <a:t>Analytics</a:t>
            </a:r>
            <a:br>
              <a:rPr lang="en-US" dirty="0"/>
            </a:br>
            <a:r>
              <a:rPr lang="en-US" dirty="0"/>
              <a:t>Dashboard</a:t>
            </a:r>
            <a:endParaRPr dirty="0"/>
          </a:p>
        </p:txBody>
      </p:sp>
      <p:sp>
        <p:nvSpPr>
          <p:cNvPr id="7" name="TextBox 6">
            <a:extLst>
              <a:ext uri="{FF2B5EF4-FFF2-40B4-BE49-F238E27FC236}">
                <a16:creationId xmlns:a16="http://schemas.microsoft.com/office/drawing/2014/main" id="{B31FD7E5-B5D6-7DDE-61C0-65A05DD749EC}"/>
              </a:ext>
            </a:extLst>
          </p:cNvPr>
          <p:cNvSpPr txBox="1"/>
          <p:nvPr/>
        </p:nvSpPr>
        <p:spPr>
          <a:xfrm>
            <a:off x="8523980" y="6534213"/>
            <a:ext cx="3972170" cy="276999"/>
          </a:xfrm>
          <a:prstGeom prst="rect">
            <a:avLst/>
          </a:prstGeom>
          <a:noFill/>
        </p:spPr>
        <p:txBody>
          <a:bodyPr wrap="square" rtlCol="0">
            <a:spAutoFit/>
          </a:bodyPr>
          <a:lstStyle/>
          <a:p>
            <a:pPr fontAlgn="base"/>
            <a:endParaRPr lang="en-IN" sz="1200"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0"/>
          <p:cNvPicPr preferRelativeResize="0"/>
          <p:nvPr/>
        </p:nvPicPr>
        <p:blipFill>
          <a:blip r:embed="rId3">
            <a:alphaModFix/>
          </a:blip>
          <a:stretch>
            <a:fillRect/>
          </a:stretch>
        </p:blipFill>
        <p:spPr>
          <a:xfrm>
            <a:off x="7066204" y="0"/>
            <a:ext cx="5125792" cy="6858001"/>
          </a:xfrm>
          <a:prstGeom prst="rect">
            <a:avLst/>
          </a:prstGeom>
          <a:noFill/>
          <a:ln>
            <a:noFill/>
          </a:ln>
        </p:spPr>
      </p:pic>
      <p:grpSp>
        <p:nvGrpSpPr>
          <p:cNvPr id="156" name="Google Shape;156;p20"/>
          <p:cNvGrpSpPr/>
          <p:nvPr/>
        </p:nvGrpSpPr>
        <p:grpSpPr>
          <a:xfrm>
            <a:off x="5787348" y="1787565"/>
            <a:ext cx="5947452" cy="4497284"/>
            <a:chOff x="5627688" y="1574800"/>
            <a:chExt cx="6107112" cy="4618014"/>
          </a:xfrm>
        </p:grpSpPr>
        <p:pic>
          <p:nvPicPr>
            <p:cNvPr id="157" name="Google Shape;157;p20" descr="A black background with a black square&#10;&#10;Description automatically generated with medium confidence"/>
            <p:cNvPicPr preferRelativeResize="0"/>
            <p:nvPr/>
          </p:nvPicPr>
          <p:blipFill rotWithShape="1">
            <a:blip r:embed="rId4">
              <a:alphaModFix amt="54000"/>
            </a:blip>
            <a:srcRect/>
            <a:stretch/>
          </p:blipFill>
          <p:spPr>
            <a:xfrm flipH="1">
              <a:off x="9240002" y="5650005"/>
              <a:ext cx="2347996" cy="203200"/>
            </a:xfrm>
            <a:prstGeom prst="rect">
              <a:avLst/>
            </a:prstGeom>
            <a:noFill/>
            <a:ln>
              <a:noFill/>
            </a:ln>
          </p:spPr>
        </p:pic>
        <p:pic>
          <p:nvPicPr>
            <p:cNvPr id="158" name="Google Shape;158;p20" descr="A black background with a black square&#10;&#10;Description automatically generated with medium confidence"/>
            <p:cNvPicPr preferRelativeResize="0"/>
            <p:nvPr/>
          </p:nvPicPr>
          <p:blipFill rotWithShape="1">
            <a:blip r:embed="rId4">
              <a:alphaModFix amt="49000"/>
            </a:blip>
            <a:srcRect/>
            <a:stretch/>
          </p:blipFill>
          <p:spPr>
            <a:xfrm flipH="1">
              <a:off x="5627688" y="5657850"/>
              <a:ext cx="2347996" cy="203200"/>
            </a:xfrm>
            <a:prstGeom prst="rect">
              <a:avLst/>
            </a:prstGeom>
            <a:noFill/>
            <a:ln>
              <a:noFill/>
            </a:ln>
          </p:spPr>
        </p:pic>
        <p:pic>
          <p:nvPicPr>
            <p:cNvPr id="159" name="Google Shape;159;p20" descr="A black background with a black square&#10;&#10;Description automatically generated with medium confidence"/>
            <p:cNvPicPr preferRelativeResize="0"/>
            <p:nvPr/>
          </p:nvPicPr>
          <p:blipFill rotWithShape="1">
            <a:blip r:embed="rId4">
              <a:alphaModFix amt="67000"/>
            </a:blip>
            <a:srcRect/>
            <a:stretch/>
          </p:blipFill>
          <p:spPr>
            <a:xfrm flipH="1">
              <a:off x="6619874" y="5868520"/>
              <a:ext cx="4610099" cy="324294"/>
            </a:xfrm>
            <a:prstGeom prst="rect">
              <a:avLst/>
            </a:prstGeom>
            <a:noFill/>
            <a:ln>
              <a:noFill/>
            </a:ln>
          </p:spPr>
        </p:pic>
        <p:pic>
          <p:nvPicPr>
            <p:cNvPr id="160" name="Google Shape;160;p20" descr="A cell phone with a red moped&#10;&#10;Description automatically generated"/>
            <p:cNvPicPr preferRelativeResize="0"/>
            <p:nvPr/>
          </p:nvPicPr>
          <p:blipFill rotWithShape="1">
            <a:blip r:embed="rId5">
              <a:alphaModFix/>
            </a:blip>
            <a:srcRect/>
            <a:stretch/>
          </p:blipFill>
          <p:spPr>
            <a:xfrm>
              <a:off x="6339840" y="1574800"/>
              <a:ext cx="5394960" cy="4495800"/>
            </a:xfrm>
            <a:prstGeom prst="rect">
              <a:avLst/>
            </a:prstGeom>
            <a:noFill/>
            <a:ln>
              <a:noFill/>
            </a:ln>
          </p:spPr>
        </p:pic>
      </p:grpSp>
      <p:pic>
        <p:nvPicPr>
          <p:cNvPr id="161" name="Google Shape;161;p20"/>
          <p:cNvPicPr preferRelativeResize="0"/>
          <p:nvPr/>
        </p:nvPicPr>
        <p:blipFill rotWithShape="1">
          <a:blip r:embed="rId6">
            <a:alphaModFix/>
          </a:blip>
          <a:srcRect/>
          <a:stretch/>
        </p:blipFill>
        <p:spPr>
          <a:xfrm>
            <a:off x="10539535" y="838200"/>
            <a:ext cx="1544422" cy="774338"/>
          </a:xfrm>
          <a:prstGeom prst="rect">
            <a:avLst/>
          </a:prstGeom>
          <a:noFill/>
          <a:ln>
            <a:noFill/>
          </a:ln>
        </p:spPr>
      </p:pic>
      <p:pic>
        <p:nvPicPr>
          <p:cNvPr id="162" name="Google Shape;162;p20"/>
          <p:cNvPicPr preferRelativeResize="0"/>
          <p:nvPr/>
        </p:nvPicPr>
        <p:blipFill rotWithShape="1">
          <a:blip r:embed="rId7">
            <a:alphaModFix/>
          </a:blip>
          <a:srcRect/>
          <a:stretch/>
        </p:blipFill>
        <p:spPr>
          <a:xfrm rot="-589488">
            <a:off x="609891" y="1962007"/>
            <a:ext cx="202415" cy="158251"/>
          </a:xfrm>
          <a:prstGeom prst="rect">
            <a:avLst/>
          </a:prstGeom>
          <a:noFill/>
          <a:ln>
            <a:noFill/>
          </a:ln>
        </p:spPr>
      </p:pic>
      <p:pic>
        <p:nvPicPr>
          <p:cNvPr id="163" name="Google Shape;163;p20"/>
          <p:cNvPicPr preferRelativeResize="0"/>
          <p:nvPr/>
        </p:nvPicPr>
        <p:blipFill rotWithShape="1">
          <a:blip r:embed="rId8">
            <a:alphaModFix/>
          </a:blip>
          <a:srcRect/>
          <a:stretch/>
        </p:blipFill>
        <p:spPr>
          <a:xfrm rot="-605715">
            <a:off x="3274304" y="1957229"/>
            <a:ext cx="124112" cy="97032"/>
          </a:xfrm>
          <a:prstGeom prst="rect">
            <a:avLst/>
          </a:prstGeom>
          <a:noFill/>
          <a:ln>
            <a:noFill/>
          </a:ln>
        </p:spPr>
      </p:pic>
      <p:sp>
        <p:nvSpPr>
          <p:cNvPr id="164" name="Google Shape;164;p20"/>
          <p:cNvSpPr txBox="1"/>
          <p:nvPr/>
        </p:nvSpPr>
        <p:spPr>
          <a:xfrm>
            <a:off x="704956" y="2390543"/>
            <a:ext cx="5876819" cy="3107733"/>
          </a:xfrm>
          <a:prstGeom prst="rect">
            <a:avLst/>
          </a:prstGeom>
          <a:noFill/>
          <a:ln>
            <a:noFill/>
          </a:ln>
        </p:spPr>
        <p:txBody>
          <a:bodyPr spcFirstLastPara="1" wrap="square" lIns="91425" tIns="45700" rIns="91425" bIns="45700" anchor="t" anchorCtr="0">
            <a:spAutoFit/>
          </a:bodyPr>
          <a:lstStyle/>
          <a:p>
            <a:pPr lvl="0">
              <a:lnSpc>
                <a:spcPct val="141666"/>
              </a:lnSpc>
            </a:pPr>
            <a:r>
              <a:rPr lang="en-US" sz="1800" dirty="0">
                <a:solidFill>
                  <a:srgbClr val="0C0C0C"/>
                </a:solidFill>
                <a:latin typeface="Calibri"/>
                <a:ea typeface="Calibri"/>
                <a:cs typeface="Calibri"/>
                <a:sym typeface="Calibri"/>
              </a:rPr>
              <a:t>Project Zomato Analytics deals with the Zomato restaurants, mapped all over the globe, analyzing which we can evaluate the country specific performance of Zomato on the basis of key parameters like location, cuisine, average cost, online delivery and table booking. It will support the business decisions by identifying areas of improvements and providing key insights for informed decision making.</a:t>
            </a:r>
            <a:endParaRPr sz="1800" dirty="0">
              <a:solidFill>
                <a:srgbClr val="0C0C0C"/>
              </a:solidFill>
              <a:latin typeface="Calibri"/>
              <a:ea typeface="Calibri"/>
              <a:cs typeface="Calibri"/>
              <a:sym typeface="Calibri"/>
            </a:endParaRPr>
          </a:p>
          <a:p>
            <a:pPr marL="0" marR="0" lvl="0" indent="0" algn="l" rtl="0">
              <a:lnSpc>
                <a:spcPct val="141666"/>
              </a:lnSpc>
              <a:spcBef>
                <a:spcPts val="0"/>
              </a:spcBef>
              <a:spcAft>
                <a:spcPts val="0"/>
              </a:spcAft>
              <a:buNone/>
            </a:pPr>
            <a:endParaRPr sz="1200" dirty="0">
              <a:solidFill>
                <a:srgbClr val="0C0C0C"/>
              </a:solidFill>
              <a:latin typeface="Calibri"/>
              <a:ea typeface="Calibri"/>
              <a:cs typeface="Calibri"/>
              <a:sym typeface="Calibri"/>
            </a:endParaRPr>
          </a:p>
        </p:txBody>
      </p:sp>
      <p:pic>
        <p:nvPicPr>
          <p:cNvPr id="165" name="Google Shape;165;p20"/>
          <p:cNvPicPr preferRelativeResize="0"/>
          <p:nvPr/>
        </p:nvPicPr>
        <p:blipFill rotWithShape="1">
          <a:blip r:embed="rId9">
            <a:alphaModFix/>
          </a:blip>
          <a:srcRect/>
          <a:stretch/>
        </p:blipFill>
        <p:spPr>
          <a:xfrm>
            <a:off x="3710536" y="5442495"/>
            <a:ext cx="506904" cy="254150"/>
          </a:xfrm>
          <a:prstGeom prst="rect">
            <a:avLst/>
          </a:prstGeom>
          <a:noFill/>
          <a:ln>
            <a:noFill/>
          </a:ln>
        </p:spPr>
      </p:pic>
      <p:pic>
        <p:nvPicPr>
          <p:cNvPr id="166" name="Google Shape;166;p20"/>
          <p:cNvPicPr preferRelativeResize="0"/>
          <p:nvPr/>
        </p:nvPicPr>
        <p:blipFill rotWithShape="1">
          <a:blip r:embed="rId9">
            <a:alphaModFix/>
          </a:blip>
          <a:srcRect/>
          <a:stretch/>
        </p:blipFill>
        <p:spPr>
          <a:xfrm rot="5400000">
            <a:off x="5272636" y="1314995"/>
            <a:ext cx="506904" cy="254150"/>
          </a:xfrm>
          <a:prstGeom prst="rect">
            <a:avLst/>
          </a:prstGeom>
          <a:noFill/>
          <a:ln>
            <a:noFill/>
          </a:ln>
        </p:spPr>
      </p:pic>
      <p:sp>
        <p:nvSpPr>
          <p:cNvPr id="167" name="Google Shape;167;p20"/>
          <p:cNvSpPr txBox="1">
            <a:spLocks noGrp="1"/>
          </p:cNvSpPr>
          <p:nvPr>
            <p:ph type="title"/>
          </p:nvPr>
        </p:nvSpPr>
        <p:spPr>
          <a:xfrm>
            <a:off x="711200" y="1825625"/>
            <a:ext cx="2725934" cy="50779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dirty="0"/>
              <a:t>Introduction</a:t>
            </a:r>
          </a:p>
        </p:txBody>
      </p:sp>
      <p:pic>
        <p:nvPicPr>
          <p:cNvPr id="2" name="Google Shape;117;p18">
            <a:extLst>
              <a:ext uri="{FF2B5EF4-FFF2-40B4-BE49-F238E27FC236}">
                <a16:creationId xmlns:a16="http://schemas.microsoft.com/office/drawing/2014/main" id="{CB930EEF-F6D6-05E7-A799-302D51147818}"/>
              </a:ext>
            </a:extLst>
          </p:cNvPr>
          <p:cNvPicPr preferRelativeResize="0"/>
          <p:nvPr/>
        </p:nvPicPr>
        <p:blipFill rotWithShape="1">
          <a:blip r:embed="rId10">
            <a:alphaModFix/>
          </a:blip>
          <a:srcRect/>
          <a:stretch/>
        </p:blipFill>
        <p:spPr>
          <a:xfrm>
            <a:off x="3067664" y="5928851"/>
            <a:ext cx="681451" cy="530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19"/>
          <p:cNvPicPr preferRelativeResize="0"/>
          <p:nvPr/>
        </p:nvPicPr>
        <p:blipFill>
          <a:blip r:embed="rId3">
            <a:alphaModFix/>
          </a:blip>
          <a:srcRect r="10322"/>
          <a:stretch>
            <a:fillRect/>
          </a:stretch>
        </p:blipFill>
        <p:spPr>
          <a:xfrm>
            <a:off x="6725267" y="-15125"/>
            <a:ext cx="5466734" cy="6287281"/>
          </a:xfrm>
          <a:prstGeom prst="rect">
            <a:avLst/>
          </a:prstGeom>
          <a:noFill/>
          <a:ln>
            <a:noFill/>
          </a:ln>
        </p:spPr>
      </p:pic>
      <p:pic>
        <p:nvPicPr>
          <p:cNvPr id="127" name="Google Shape;127;p19"/>
          <p:cNvPicPr preferRelativeResize="0"/>
          <p:nvPr/>
        </p:nvPicPr>
        <p:blipFill rotWithShape="1">
          <a:blip r:embed="rId4">
            <a:alphaModFix/>
          </a:blip>
          <a:srcRect/>
          <a:stretch/>
        </p:blipFill>
        <p:spPr>
          <a:xfrm rot="10800000">
            <a:off x="4507667" y="316667"/>
            <a:ext cx="356384" cy="178682"/>
          </a:xfrm>
          <a:prstGeom prst="rect">
            <a:avLst/>
          </a:prstGeom>
          <a:noFill/>
          <a:ln>
            <a:noFill/>
          </a:ln>
        </p:spPr>
      </p:pic>
      <p:pic>
        <p:nvPicPr>
          <p:cNvPr id="128" name="Google Shape;128;p19"/>
          <p:cNvPicPr preferRelativeResize="0"/>
          <p:nvPr/>
        </p:nvPicPr>
        <p:blipFill rotWithShape="1">
          <a:blip r:embed="rId5">
            <a:alphaModFix/>
          </a:blip>
          <a:srcRect/>
          <a:stretch/>
        </p:blipFill>
        <p:spPr>
          <a:xfrm rot="-605715">
            <a:off x="2907431" y="771733"/>
            <a:ext cx="124112" cy="97032"/>
          </a:xfrm>
          <a:prstGeom prst="rect">
            <a:avLst/>
          </a:prstGeom>
          <a:noFill/>
          <a:ln>
            <a:noFill/>
          </a:ln>
        </p:spPr>
      </p:pic>
      <p:pic>
        <p:nvPicPr>
          <p:cNvPr id="129" name="Google Shape;129;p19"/>
          <p:cNvPicPr preferRelativeResize="0"/>
          <p:nvPr/>
        </p:nvPicPr>
        <p:blipFill rotWithShape="1">
          <a:blip r:embed="rId6">
            <a:alphaModFix/>
          </a:blip>
          <a:srcRect/>
          <a:stretch/>
        </p:blipFill>
        <p:spPr>
          <a:xfrm rot="-589488">
            <a:off x="593124" y="830278"/>
            <a:ext cx="202415" cy="158251"/>
          </a:xfrm>
          <a:prstGeom prst="rect">
            <a:avLst/>
          </a:prstGeom>
          <a:noFill/>
          <a:ln>
            <a:noFill/>
          </a:ln>
        </p:spPr>
      </p:pic>
      <p:grpSp>
        <p:nvGrpSpPr>
          <p:cNvPr id="3" name="Group 2">
            <a:extLst>
              <a:ext uri="{FF2B5EF4-FFF2-40B4-BE49-F238E27FC236}">
                <a16:creationId xmlns:a16="http://schemas.microsoft.com/office/drawing/2014/main" id="{7D464A7B-47EB-BF83-FEFC-357932AD9600}"/>
              </a:ext>
            </a:extLst>
          </p:cNvPr>
          <p:cNvGrpSpPr/>
          <p:nvPr/>
        </p:nvGrpSpPr>
        <p:grpSpPr>
          <a:xfrm>
            <a:off x="804051" y="1503151"/>
            <a:ext cx="515764" cy="515764"/>
            <a:chOff x="804051" y="1503151"/>
            <a:chExt cx="515764" cy="515764"/>
          </a:xfrm>
        </p:grpSpPr>
        <p:sp>
          <p:nvSpPr>
            <p:cNvPr id="130" name="Google Shape;130;p19"/>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9"/>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01</a:t>
              </a:r>
              <a:endParaRPr sz="1400" b="1" dirty="0">
                <a:solidFill>
                  <a:schemeClr val="accent1"/>
                </a:solidFill>
                <a:latin typeface="Poppins"/>
                <a:ea typeface="Poppins"/>
                <a:cs typeface="Poppins"/>
                <a:sym typeface="Poppins"/>
              </a:endParaRPr>
            </a:p>
          </p:txBody>
        </p:sp>
      </p:grpSp>
      <p:pic>
        <p:nvPicPr>
          <p:cNvPr id="132" name="Google Shape;132;p19"/>
          <p:cNvPicPr preferRelativeResize="0"/>
          <p:nvPr/>
        </p:nvPicPr>
        <p:blipFill rotWithShape="1">
          <a:blip r:embed="rId7">
            <a:alphaModFix/>
          </a:blip>
          <a:srcRect/>
          <a:stretch/>
        </p:blipFill>
        <p:spPr>
          <a:xfrm>
            <a:off x="10422771" y="0"/>
            <a:ext cx="1544422" cy="774338"/>
          </a:xfrm>
          <a:prstGeom prst="rect">
            <a:avLst/>
          </a:prstGeom>
          <a:noFill/>
          <a:ln>
            <a:noFill/>
          </a:ln>
        </p:spPr>
      </p:pic>
      <p:sp>
        <p:nvSpPr>
          <p:cNvPr id="133" name="Google Shape;133;p19"/>
          <p:cNvSpPr/>
          <p:nvPr/>
        </p:nvSpPr>
        <p:spPr>
          <a:xfrm>
            <a:off x="804051" y="2259548"/>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19"/>
          <p:cNvSpPr txBox="1"/>
          <p:nvPr/>
        </p:nvSpPr>
        <p:spPr>
          <a:xfrm>
            <a:off x="808750" y="2363542"/>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02</a:t>
            </a:r>
            <a:endParaRPr sz="1400" b="1">
              <a:solidFill>
                <a:schemeClr val="accent1"/>
              </a:solidFill>
              <a:latin typeface="Poppins"/>
              <a:ea typeface="Poppins"/>
              <a:cs typeface="Poppins"/>
              <a:sym typeface="Poppins"/>
            </a:endParaRPr>
          </a:p>
        </p:txBody>
      </p:sp>
      <p:sp>
        <p:nvSpPr>
          <p:cNvPr id="135" name="Google Shape;135;p19"/>
          <p:cNvSpPr/>
          <p:nvPr/>
        </p:nvSpPr>
        <p:spPr>
          <a:xfrm>
            <a:off x="804051" y="3015945"/>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9"/>
          <p:cNvSpPr txBox="1"/>
          <p:nvPr/>
        </p:nvSpPr>
        <p:spPr>
          <a:xfrm>
            <a:off x="808750" y="3119939"/>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03</a:t>
            </a:r>
            <a:endParaRPr sz="1400" b="1">
              <a:solidFill>
                <a:schemeClr val="accent1"/>
              </a:solidFill>
              <a:latin typeface="Poppins"/>
              <a:ea typeface="Poppins"/>
              <a:cs typeface="Poppins"/>
              <a:sym typeface="Poppins"/>
            </a:endParaRPr>
          </a:p>
        </p:txBody>
      </p:sp>
      <p:sp>
        <p:nvSpPr>
          <p:cNvPr id="137" name="Google Shape;137;p19"/>
          <p:cNvSpPr/>
          <p:nvPr/>
        </p:nvSpPr>
        <p:spPr>
          <a:xfrm>
            <a:off x="813898" y="3772342"/>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19"/>
          <p:cNvSpPr txBox="1"/>
          <p:nvPr/>
        </p:nvSpPr>
        <p:spPr>
          <a:xfrm>
            <a:off x="804051" y="3876336"/>
            <a:ext cx="53545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04</a:t>
            </a:r>
            <a:endParaRPr sz="1400" b="1">
              <a:solidFill>
                <a:schemeClr val="accent1"/>
              </a:solidFill>
              <a:latin typeface="Poppins"/>
              <a:ea typeface="Poppins"/>
              <a:cs typeface="Poppins"/>
              <a:sym typeface="Poppins"/>
            </a:endParaRPr>
          </a:p>
        </p:txBody>
      </p:sp>
      <p:sp>
        <p:nvSpPr>
          <p:cNvPr id="139" name="Google Shape;139;p19"/>
          <p:cNvSpPr/>
          <p:nvPr/>
        </p:nvSpPr>
        <p:spPr>
          <a:xfrm>
            <a:off x="804051" y="4528739"/>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19"/>
          <p:cNvSpPr txBox="1"/>
          <p:nvPr/>
        </p:nvSpPr>
        <p:spPr>
          <a:xfrm>
            <a:off x="842412" y="4632733"/>
            <a:ext cx="439044"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05</a:t>
            </a:r>
            <a:endParaRPr sz="1400" b="1">
              <a:solidFill>
                <a:schemeClr val="accent1"/>
              </a:solidFill>
              <a:latin typeface="Poppins"/>
              <a:ea typeface="Poppins"/>
              <a:cs typeface="Poppins"/>
              <a:sym typeface="Poppins"/>
            </a:endParaRPr>
          </a:p>
        </p:txBody>
      </p:sp>
      <p:sp>
        <p:nvSpPr>
          <p:cNvPr id="141" name="Google Shape;141;p19"/>
          <p:cNvSpPr/>
          <p:nvPr/>
        </p:nvSpPr>
        <p:spPr>
          <a:xfrm>
            <a:off x="813898" y="5285138"/>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19"/>
          <p:cNvSpPr txBox="1"/>
          <p:nvPr/>
        </p:nvSpPr>
        <p:spPr>
          <a:xfrm>
            <a:off x="804051" y="5389132"/>
            <a:ext cx="53545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06</a:t>
            </a:r>
            <a:endParaRPr sz="1400" b="1">
              <a:solidFill>
                <a:schemeClr val="accent1"/>
              </a:solidFill>
              <a:latin typeface="Poppins"/>
              <a:ea typeface="Poppins"/>
              <a:cs typeface="Poppins"/>
              <a:sym typeface="Poppins"/>
            </a:endParaRPr>
          </a:p>
        </p:txBody>
      </p:sp>
      <p:pic>
        <p:nvPicPr>
          <p:cNvPr id="143" name="Google Shape;143;p19" descr="A burger on a wooden stand&#10;&#10;Description automatically generated"/>
          <p:cNvPicPr preferRelativeResize="0"/>
          <p:nvPr/>
        </p:nvPicPr>
        <p:blipFill rotWithShape="1">
          <a:blip r:embed="rId8">
            <a:alphaModFix/>
          </a:blip>
          <a:srcRect/>
          <a:stretch/>
        </p:blipFill>
        <p:spPr>
          <a:xfrm>
            <a:off x="6695683" y="-1449502"/>
            <a:ext cx="5928934" cy="8893403"/>
          </a:xfrm>
          <a:prstGeom prst="rect">
            <a:avLst/>
          </a:prstGeom>
          <a:noFill/>
          <a:ln>
            <a:noFill/>
          </a:ln>
        </p:spPr>
      </p:pic>
      <p:sp>
        <p:nvSpPr>
          <p:cNvPr id="144" name="Google Shape;144;p19"/>
          <p:cNvSpPr txBox="1">
            <a:spLocks noGrp="1"/>
          </p:cNvSpPr>
          <p:nvPr>
            <p:ph type="title"/>
          </p:nvPr>
        </p:nvSpPr>
        <p:spPr>
          <a:xfrm>
            <a:off x="713072" y="653882"/>
            <a:ext cx="2520193"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dirty="0"/>
              <a:t>Objectives</a:t>
            </a:r>
          </a:p>
        </p:txBody>
      </p:sp>
      <p:sp>
        <p:nvSpPr>
          <p:cNvPr id="145" name="Google Shape;145;p19"/>
          <p:cNvSpPr txBox="1">
            <a:spLocks noGrp="1"/>
          </p:cNvSpPr>
          <p:nvPr>
            <p:ph type="body" idx="1"/>
          </p:nvPr>
        </p:nvSpPr>
        <p:spPr>
          <a:xfrm>
            <a:off x="1375977" y="1636046"/>
            <a:ext cx="3825288" cy="286192"/>
          </a:xfrm>
          <a:prstGeom prst="rect">
            <a:avLst/>
          </a:prstGeom>
          <a:noFill/>
          <a:ln>
            <a:noFill/>
          </a:ln>
        </p:spPr>
        <p:txBody>
          <a:bodyPr spcFirstLastPara="1" wrap="square" lIns="91425" tIns="45700" rIns="91425" bIns="45700" anchor="t" anchorCtr="0">
            <a:spAutoFit/>
          </a:bodyPr>
          <a:lstStyle/>
          <a:p>
            <a:pPr marL="0" lvl="0" indent="0">
              <a:spcBef>
                <a:spcPts val="0"/>
              </a:spcBef>
            </a:pPr>
            <a:r>
              <a:rPr lang="en-US" dirty="0"/>
              <a:t>Identify Key Performance Indicators</a:t>
            </a:r>
            <a:endParaRPr sz="1400" dirty="0">
              <a:solidFill>
                <a:srgbClr val="0C0C0C"/>
              </a:solidFill>
              <a:latin typeface="Poppins"/>
              <a:ea typeface="Poppins"/>
              <a:cs typeface="Poppins"/>
              <a:sym typeface="Poppins"/>
            </a:endParaRPr>
          </a:p>
        </p:txBody>
      </p:sp>
      <p:sp>
        <p:nvSpPr>
          <p:cNvPr id="146" name="Google Shape;146;p19"/>
          <p:cNvSpPr txBox="1">
            <a:spLocks noGrp="1"/>
          </p:cNvSpPr>
          <p:nvPr>
            <p:ph type="body" idx="2"/>
          </p:nvPr>
        </p:nvSpPr>
        <p:spPr>
          <a:xfrm>
            <a:off x="1383997" y="2394836"/>
            <a:ext cx="5842713" cy="286192"/>
          </a:xfrm>
          <a:prstGeom prst="rect">
            <a:avLst/>
          </a:prstGeom>
          <a:noFill/>
          <a:ln>
            <a:noFill/>
          </a:ln>
        </p:spPr>
        <p:txBody>
          <a:bodyPr spcFirstLastPara="1" wrap="square" lIns="91425" tIns="45700" rIns="91425" bIns="45700" anchor="t" anchorCtr="0">
            <a:spAutoFit/>
          </a:bodyPr>
          <a:lstStyle/>
          <a:p>
            <a:pPr marL="0" lvl="0" indent="0">
              <a:spcBef>
                <a:spcPts val="0"/>
              </a:spcBef>
            </a:pPr>
            <a:r>
              <a:rPr lang="en-US" dirty="0"/>
              <a:t>Calculate numbers of Restaurants based on City and Country.</a:t>
            </a:r>
            <a:endParaRPr sz="1400" dirty="0">
              <a:solidFill>
                <a:srgbClr val="0C0C0C"/>
              </a:solidFill>
              <a:latin typeface="Poppins"/>
              <a:ea typeface="Poppins"/>
              <a:cs typeface="Poppins"/>
              <a:sym typeface="Poppins"/>
            </a:endParaRPr>
          </a:p>
        </p:txBody>
      </p:sp>
      <p:sp>
        <p:nvSpPr>
          <p:cNvPr id="147" name="Google Shape;147;p19"/>
          <p:cNvSpPr txBox="1">
            <a:spLocks noGrp="1"/>
          </p:cNvSpPr>
          <p:nvPr>
            <p:ph type="body" idx="3"/>
          </p:nvPr>
        </p:nvSpPr>
        <p:spPr>
          <a:xfrm>
            <a:off x="1382399" y="3150600"/>
            <a:ext cx="5842713" cy="480091"/>
          </a:xfrm>
          <a:prstGeom prst="rect">
            <a:avLst/>
          </a:prstGeom>
          <a:noFill/>
          <a:ln>
            <a:noFill/>
          </a:ln>
        </p:spPr>
        <p:txBody>
          <a:bodyPr spcFirstLastPara="1" wrap="square" lIns="91425" tIns="45700" rIns="91425" bIns="45700" anchor="t" anchorCtr="0">
            <a:spAutoFit/>
          </a:bodyPr>
          <a:lstStyle/>
          <a:p>
            <a:pPr marL="0" lvl="0" indent="0">
              <a:spcBef>
                <a:spcPts val="0"/>
              </a:spcBef>
            </a:pPr>
            <a:r>
              <a:rPr lang="en-US" dirty="0"/>
              <a:t>Calculate numbers of Restaurants opening based on Year , Quarter , Month</a:t>
            </a:r>
            <a:endParaRPr sz="1400" dirty="0">
              <a:solidFill>
                <a:srgbClr val="0C0C0C"/>
              </a:solidFill>
              <a:latin typeface="Poppins"/>
              <a:ea typeface="Poppins"/>
              <a:cs typeface="Poppins"/>
              <a:sym typeface="Poppins"/>
            </a:endParaRPr>
          </a:p>
        </p:txBody>
      </p:sp>
      <p:sp>
        <p:nvSpPr>
          <p:cNvPr id="148" name="Google Shape;148;p19"/>
          <p:cNvSpPr txBox="1">
            <a:spLocks noGrp="1"/>
          </p:cNvSpPr>
          <p:nvPr>
            <p:ph type="body" idx="4"/>
          </p:nvPr>
        </p:nvSpPr>
        <p:spPr>
          <a:xfrm>
            <a:off x="1380788" y="3909389"/>
            <a:ext cx="5270408" cy="286192"/>
          </a:xfrm>
          <a:prstGeom prst="rect">
            <a:avLst/>
          </a:prstGeom>
          <a:noFill/>
          <a:ln>
            <a:noFill/>
          </a:ln>
        </p:spPr>
        <p:txBody>
          <a:bodyPr spcFirstLastPara="1" wrap="square" lIns="91425" tIns="45700" rIns="91425" bIns="45700" anchor="t" anchorCtr="0">
            <a:spAutoFit/>
          </a:bodyPr>
          <a:lstStyle/>
          <a:p>
            <a:pPr marL="0" lvl="0" indent="0">
              <a:spcBef>
                <a:spcPts val="0"/>
              </a:spcBef>
            </a:pPr>
            <a:r>
              <a:rPr lang="en-US" dirty="0"/>
              <a:t>Finding count of Restaurants based on Average Ratings</a:t>
            </a:r>
            <a:endParaRPr sz="1400" dirty="0">
              <a:solidFill>
                <a:srgbClr val="0C0C0C"/>
              </a:solidFill>
              <a:latin typeface="Poppins"/>
              <a:ea typeface="Poppins"/>
              <a:cs typeface="Poppins"/>
              <a:sym typeface="Poppins"/>
            </a:endParaRPr>
          </a:p>
        </p:txBody>
      </p:sp>
      <p:sp>
        <p:nvSpPr>
          <p:cNvPr id="149" name="Google Shape;149;p19"/>
          <p:cNvSpPr txBox="1">
            <a:spLocks noGrp="1"/>
          </p:cNvSpPr>
          <p:nvPr>
            <p:ph type="body" idx="5"/>
          </p:nvPr>
        </p:nvSpPr>
        <p:spPr>
          <a:xfrm>
            <a:off x="1376998" y="4668175"/>
            <a:ext cx="5515415" cy="480091"/>
          </a:xfrm>
          <a:prstGeom prst="rect">
            <a:avLst/>
          </a:prstGeom>
          <a:noFill/>
          <a:ln>
            <a:noFill/>
          </a:ln>
        </p:spPr>
        <p:txBody>
          <a:bodyPr spcFirstLastPara="1" wrap="square" lIns="91425" tIns="45700" rIns="91425" bIns="45700" anchor="t" anchorCtr="0">
            <a:spAutoFit/>
          </a:bodyPr>
          <a:lstStyle/>
          <a:p>
            <a:pPr marL="0" lvl="0" indent="0">
              <a:spcBef>
                <a:spcPts val="0"/>
              </a:spcBef>
            </a:pPr>
            <a:r>
              <a:rPr lang="en-US" dirty="0"/>
              <a:t>Percentage of Restaurants based on "has Table booking" and "has Online delivery"</a:t>
            </a:r>
            <a:endParaRPr sz="1400" dirty="0">
              <a:solidFill>
                <a:srgbClr val="0C0C0C"/>
              </a:solidFill>
              <a:latin typeface="Poppins"/>
              <a:ea typeface="Poppins"/>
              <a:cs typeface="Poppins"/>
              <a:sym typeface="Poppins"/>
            </a:endParaRPr>
          </a:p>
        </p:txBody>
      </p:sp>
      <p:sp>
        <p:nvSpPr>
          <p:cNvPr id="150" name="Google Shape;150;p19"/>
          <p:cNvSpPr txBox="1">
            <a:spLocks noGrp="1"/>
          </p:cNvSpPr>
          <p:nvPr>
            <p:ph type="body" idx="6"/>
          </p:nvPr>
        </p:nvSpPr>
        <p:spPr>
          <a:xfrm>
            <a:off x="1385018" y="5417347"/>
            <a:ext cx="5654879" cy="480091"/>
          </a:xfrm>
          <a:prstGeom prst="rect">
            <a:avLst/>
          </a:prstGeom>
          <a:noFill/>
          <a:ln>
            <a:noFill/>
          </a:ln>
        </p:spPr>
        <p:txBody>
          <a:bodyPr spcFirstLastPara="1" wrap="square" lIns="91425" tIns="45700" rIns="91425" bIns="45700" anchor="t" anchorCtr="0">
            <a:spAutoFit/>
          </a:bodyPr>
          <a:lstStyle/>
          <a:p>
            <a:pPr marL="0" lvl="0" indent="0">
              <a:spcBef>
                <a:spcPts val="0"/>
              </a:spcBef>
            </a:pPr>
            <a:r>
              <a:rPr lang="en-US" dirty="0"/>
              <a:t>Create buckets based on Average Price of reasonable size and find out how many restaurants falls in each buckets</a:t>
            </a:r>
            <a:endParaRPr sz="1400" dirty="0">
              <a:latin typeface="Poppins"/>
              <a:ea typeface="Poppins"/>
              <a:cs typeface="Poppins"/>
              <a:sym typeface="Poppins"/>
            </a:endParaRPr>
          </a:p>
        </p:txBody>
      </p:sp>
      <p:pic>
        <p:nvPicPr>
          <p:cNvPr id="2" name="Google Shape;117;p18">
            <a:extLst>
              <a:ext uri="{FF2B5EF4-FFF2-40B4-BE49-F238E27FC236}">
                <a16:creationId xmlns:a16="http://schemas.microsoft.com/office/drawing/2014/main" id="{79C68295-85CC-9A90-EDD9-0D0FE74AA9FB}"/>
              </a:ext>
            </a:extLst>
          </p:cNvPr>
          <p:cNvPicPr preferRelativeResize="0"/>
          <p:nvPr/>
        </p:nvPicPr>
        <p:blipFill rotWithShape="1">
          <a:blip r:embed="rId9">
            <a:alphaModFix/>
          </a:blip>
          <a:srcRect/>
          <a:stretch/>
        </p:blipFill>
        <p:spPr>
          <a:xfrm>
            <a:off x="3991893" y="5928851"/>
            <a:ext cx="681451" cy="5300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21"/>
          <p:cNvPicPr preferRelativeResize="0"/>
          <p:nvPr/>
        </p:nvPicPr>
        <p:blipFill>
          <a:blip r:embed="rId3">
            <a:alphaModFix/>
          </a:blip>
          <a:stretch>
            <a:fillRect/>
          </a:stretch>
        </p:blipFill>
        <p:spPr>
          <a:xfrm>
            <a:off x="6248400" y="-15125"/>
            <a:ext cx="5943600" cy="6130093"/>
          </a:xfrm>
          <a:prstGeom prst="rect">
            <a:avLst/>
          </a:prstGeom>
          <a:noFill/>
          <a:ln>
            <a:noFill/>
          </a:ln>
        </p:spPr>
      </p:pic>
      <p:pic>
        <p:nvPicPr>
          <p:cNvPr id="174" name="Google Shape;174;p21"/>
          <p:cNvPicPr preferRelativeResize="0"/>
          <p:nvPr/>
        </p:nvPicPr>
        <p:blipFill rotWithShape="1">
          <a:blip r:embed="rId4">
            <a:alphaModFix/>
          </a:blip>
          <a:srcRect/>
          <a:stretch/>
        </p:blipFill>
        <p:spPr>
          <a:xfrm rot="10800000">
            <a:off x="11187781" y="4816995"/>
            <a:ext cx="356384" cy="178682"/>
          </a:xfrm>
          <a:prstGeom prst="rect">
            <a:avLst/>
          </a:prstGeom>
          <a:noFill/>
          <a:ln>
            <a:noFill/>
          </a:ln>
        </p:spPr>
      </p:pic>
      <p:cxnSp>
        <p:nvCxnSpPr>
          <p:cNvPr id="175" name="Google Shape;175;p21"/>
          <p:cNvCxnSpPr/>
          <p:nvPr/>
        </p:nvCxnSpPr>
        <p:spPr>
          <a:xfrm>
            <a:off x="2552700" y="6464300"/>
            <a:ext cx="9639300" cy="0"/>
          </a:xfrm>
          <a:prstGeom prst="straightConnector1">
            <a:avLst/>
          </a:prstGeom>
          <a:noFill/>
          <a:ln w="9525" cap="flat" cmpd="sng">
            <a:solidFill>
              <a:schemeClr val="accent1"/>
            </a:solidFill>
            <a:prstDash val="solid"/>
            <a:miter lim="800000"/>
            <a:headEnd type="none" w="sm" len="sm"/>
            <a:tailEnd type="none" w="sm" len="sm"/>
          </a:ln>
        </p:spPr>
      </p:cxnSp>
      <p:pic>
        <p:nvPicPr>
          <p:cNvPr id="176" name="Google Shape;176;p21"/>
          <p:cNvPicPr preferRelativeResize="0"/>
          <p:nvPr/>
        </p:nvPicPr>
        <p:blipFill rotWithShape="1">
          <a:blip r:embed="rId5">
            <a:alphaModFix/>
          </a:blip>
          <a:srcRect/>
          <a:stretch/>
        </p:blipFill>
        <p:spPr>
          <a:xfrm>
            <a:off x="9653514" y="584200"/>
            <a:ext cx="1544422" cy="774338"/>
          </a:xfrm>
          <a:prstGeom prst="rect">
            <a:avLst/>
          </a:prstGeom>
          <a:noFill/>
          <a:ln>
            <a:noFill/>
          </a:ln>
        </p:spPr>
      </p:pic>
      <p:pic>
        <p:nvPicPr>
          <p:cNvPr id="177" name="Google Shape;177;p21"/>
          <p:cNvPicPr preferRelativeResize="0"/>
          <p:nvPr/>
        </p:nvPicPr>
        <p:blipFill rotWithShape="1">
          <a:blip r:embed="rId6">
            <a:alphaModFix/>
          </a:blip>
          <a:srcRect/>
          <a:stretch/>
        </p:blipFill>
        <p:spPr>
          <a:xfrm rot="-589488">
            <a:off x="496963" y="1663213"/>
            <a:ext cx="202415" cy="158251"/>
          </a:xfrm>
          <a:prstGeom prst="rect">
            <a:avLst/>
          </a:prstGeom>
          <a:noFill/>
          <a:ln>
            <a:noFill/>
          </a:ln>
        </p:spPr>
      </p:pic>
      <p:pic>
        <p:nvPicPr>
          <p:cNvPr id="178" name="Google Shape;178;p21"/>
          <p:cNvPicPr preferRelativeResize="0"/>
          <p:nvPr/>
        </p:nvPicPr>
        <p:blipFill rotWithShape="1">
          <a:blip r:embed="rId7">
            <a:alphaModFix/>
          </a:blip>
          <a:srcRect/>
          <a:stretch/>
        </p:blipFill>
        <p:spPr>
          <a:xfrm rot="-605715">
            <a:off x="3676897" y="1847701"/>
            <a:ext cx="124112" cy="97032"/>
          </a:xfrm>
          <a:prstGeom prst="rect">
            <a:avLst/>
          </a:prstGeom>
          <a:noFill/>
          <a:ln>
            <a:noFill/>
          </a:ln>
        </p:spPr>
      </p:pic>
      <p:sp>
        <p:nvSpPr>
          <p:cNvPr id="180" name="Google Shape;180;p21"/>
          <p:cNvSpPr txBox="1"/>
          <p:nvPr/>
        </p:nvSpPr>
        <p:spPr>
          <a:xfrm>
            <a:off x="647835" y="2477752"/>
            <a:ext cx="5943600" cy="1477287"/>
          </a:xfrm>
          <a:prstGeom prst="rect">
            <a:avLst/>
          </a:prstGeom>
          <a:noFill/>
          <a:ln>
            <a:noFill/>
          </a:ln>
        </p:spPr>
        <p:txBody>
          <a:bodyPr spcFirstLastPara="1" wrap="square" lIns="91425" tIns="45700" rIns="91425" bIns="45700" anchor="t" anchorCtr="0">
            <a:spAutoFit/>
          </a:bodyPr>
          <a:lstStyle/>
          <a:p>
            <a:pPr lvl="0"/>
            <a:r>
              <a:rPr lang="en-US" sz="1800" dirty="0">
                <a:solidFill>
                  <a:srgbClr val="0C0C0C"/>
                </a:solidFill>
                <a:latin typeface="Calibri"/>
                <a:ea typeface="Calibri"/>
                <a:cs typeface="Calibri"/>
                <a:sym typeface="Calibri"/>
              </a:rPr>
              <a:t>Zomato Analytics features-</a:t>
            </a:r>
          </a:p>
          <a:p>
            <a:pPr marL="285750" lvl="0" indent="-285750">
              <a:buFont typeface="Arial" panose="020B0604020202020204" pitchFamily="34" charset="0"/>
              <a:buChar char="•"/>
            </a:pPr>
            <a:r>
              <a:rPr lang="en-US" sz="1800" dirty="0">
                <a:solidFill>
                  <a:srgbClr val="0C0C0C"/>
                </a:solidFill>
                <a:latin typeface="Calibri"/>
                <a:ea typeface="Calibri"/>
                <a:cs typeface="Calibri"/>
                <a:sym typeface="Calibri"/>
              </a:rPr>
              <a:t>country table,</a:t>
            </a:r>
          </a:p>
          <a:p>
            <a:pPr marL="342900" lvl="0" indent="-342900">
              <a:buFont typeface="Arial" panose="020B0604020202020204" pitchFamily="34" charset="0"/>
              <a:buChar char="•"/>
            </a:pPr>
            <a:r>
              <a:rPr lang="en-US" sz="1800" dirty="0">
                <a:solidFill>
                  <a:srgbClr val="0C0C0C"/>
                </a:solidFill>
                <a:latin typeface="Calibri"/>
                <a:ea typeface="Calibri"/>
                <a:cs typeface="Calibri"/>
                <a:sym typeface="Calibri"/>
              </a:rPr>
              <a:t>currency exchange rate table,</a:t>
            </a:r>
          </a:p>
          <a:p>
            <a:pPr marL="285750" lvl="0" indent="-285750">
              <a:buFont typeface="Arial" panose="020B0604020202020204" pitchFamily="34" charset="0"/>
              <a:buChar char="•"/>
            </a:pPr>
            <a:r>
              <a:rPr lang="en-US" sz="1800" dirty="0">
                <a:solidFill>
                  <a:srgbClr val="0C0C0C"/>
                </a:solidFill>
                <a:latin typeface="Calibri"/>
                <a:ea typeface="Calibri"/>
                <a:cs typeface="Calibri"/>
                <a:sym typeface="Calibri"/>
              </a:rPr>
              <a:t>calendar table,</a:t>
            </a:r>
          </a:p>
          <a:p>
            <a:pPr marL="285750" lvl="0" indent="-285750">
              <a:buFont typeface="Arial" panose="020B0604020202020204" pitchFamily="34" charset="0"/>
              <a:buChar char="•"/>
            </a:pPr>
            <a:r>
              <a:rPr lang="en-US" sz="1800" dirty="0">
                <a:solidFill>
                  <a:srgbClr val="0C0C0C"/>
                </a:solidFill>
                <a:latin typeface="Calibri"/>
                <a:ea typeface="Calibri"/>
                <a:cs typeface="Calibri"/>
                <a:sym typeface="Calibri"/>
              </a:rPr>
              <a:t>restaurants table.</a:t>
            </a:r>
          </a:p>
        </p:txBody>
      </p:sp>
      <p:pic>
        <p:nvPicPr>
          <p:cNvPr id="188" name="Google Shape;188;p21" descr="A person holding a bag and a phone&#10;&#10;Description automatically generated"/>
          <p:cNvPicPr preferRelativeResize="0"/>
          <p:nvPr/>
        </p:nvPicPr>
        <p:blipFill rotWithShape="1">
          <a:blip r:embed="rId8">
            <a:alphaModFix/>
          </a:blip>
          <a:srcRect/>
          <a:stretch/>
        </p:blipFill>
        <p:spPr>
          <a:xfrm>
            <a:off x="4100585" y="943768"/>
            <a:ext cx="8691216" cy="5989080"/>
          </a:xfrm>
          <a:prstGeom prst="rect">
            <a:avLst/>
          </a:prstGeom>
          <a:noFill/>
          <a:ln>
            <a:noFill/>
          </a:ln>
        </p:spPr>
      </p:pic>
      <p:sp>
        <p:nvSpPr>
          <p:cNvPr id="189" name="Google Shape;189;p21"/>
          <p:cNvSpPr txBox="1">
            <a:spLocks noGrp="1"/>
          </p:cNvSpPr>
          <p:nvPr>
            <p:ph type="title"/>
          </p:nvPr>
        </p:nvSpPr>
        <p:spPr>
          <a:xfrm>
            <a:off x="647835" y="1620629"/>
            <a:ext cx="5016499" cy="50779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dirty="0"/>
              <a:t>Data</a:t>
            </a:r>
            <a:r>
              <a:rPr lang="en-US" sz="3000" b="1" dirty="0">
                <a:latin typeface="Poppins"/>
                <a:ea typeface="Poppins"/>
                <a:cs typeface="Poppins"/>
                <a:sym typeface="Poppins"/>
              </a:rPr>
              <a:t> Overview</a:t>
            </a:r>
            <a:endParaRPr dirty="0"/>
          </a:p>
        </p:txBody>
      </p:sp>
      <p:pic>
        <p:nvPicPr>
          <p:cNvPr id="4" name="Google Shape;117;p18">
            <a:extLst>
              <a:ext uri="{FF2B5EF4-FFF2-40B4-BE49-F238E27FC236}">
                <a16:creationId xmlns:a16="http://schemas.microsoft.com/office/drawing/2014/main" id="{027F59DE-2C56-9414-D9A1-47BF8BE66083}"/>
              </a:ext>
            </a:extLst>
          </p:cNvPr>
          <p:cNvPicPr preferRelativeResize="0"/>
          <p:nvPr/>
        </p:nvPicPr>
        <p:blipFill rotWithShape="1">
          <a:blip r:embed="rId9">
            <a:alphaModFix/>
          </a:blip>
          <a:srcRect/>
          <a:stretch/>
        </p:blipFill>
        <p:spPr>
          <a:xfrm>
            <a:off x="4719482" y="5928851"/>
            <a:ext cx="681451" cy="5300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2"/>
          <p:cNvPicPr preferRelativeResize="0"/>
          <p:nvPr/>
        </p:nvPicPr>
        <p:blipFill>
          <a:blip r:embed="rId3">
            <a:alphaModFix/>
          </a:blip>
          <a:stretch>
            <a:fillRect/>
          </a:stretch>
        </p:blipFill>
        <p:spPr>
          <a:xfrm>
            <a:off x="9059424" y="0"/>
            <a:ext cx="3171909" cy="6858000"/>
          </a:xfrm>
          <a:prstGeom prst="rect">
            <a:avLst/>
          </a:prstGeom>
          <a:noFill/>
          <a:ln>
            <a:noFill/>
          </a:ln>
        </p:spPr>
      </p:pic>
      <p:sp>
        <p:nvSpPr>
          <p:cNvPr id="195" name="Google Shape;195;p22"/>
          <p:cNvSpPr/>
          <p:nvPr/>
        </p:nvSpPr>
        <p:spPr>
          <a:xfrm>
            <a:off x="-155575" y="1423556"/>
            <a:ext cx="12801600" cy="4420553"/>
          </a:xfrm>
          <a:custGeom>
            <a:avLst/>
            <a:gdLst/>
            <a:ahLst/>
            <a:cxnLst/>
            <a:rect l="l" t="t" r="r" b="b"/>
            <a:pathLst>
              <a:path w="12801600" h="4533900" extrusionOk="0">
                <a:moveTo>
                  <a:pt x="0" y="0"/>
                </a:moveTo>
                <a:lnTo>
                  <a:pt x="952500" y="0"/>
                </a:lnTo>
                <a:lnTo>
                  <a:pt x="952500" y="4533900"/>
                </a:lnTo>
                <a:lnTo>
                  <a:pt x="5257800" y="4533900"/>
                </a:lnTo>
                <a:lnTo>
                  <a:pt x="5257800" y="0"/>
                </a:lnTo>
                <a:lnTo>
                  <a:pt x="12801600" y="0"/>
                </a:lnTo>
              </a:path>
            </a:pathLst>
          </a:custGeom>
          <a:noFill/>
          <a:ln w="9525" cap="flat" cmpd="sng">
            <a:solidFill>
              <a:srgbClr val="7F7F7F"/>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pic>
        <p:nvPicPr>
          <p:cNvPr id="196" name="Google Shape;196;p22"/>
          <p:cNvPicPr preferRelativeResize="0"/>
          <p:nvPr/>
        </p:nvPicPr>
        <p:blipFill rotWithShape="1">
          <a:blip r:embed="rId4">
            <a:alphaModFix/>
          </a:blip>
          <a:srcRect/>
          <a:stretch/>
        </p:blipFill>
        <p:spPr>
          <a:xfrm rot="10800000">
            <a:off x="8199422" y="628962"/>
            <a:ext cx="356384" cy="178682"/>
          </a:xfrm>
          <a:prstGeom prst="rect">
            <a:avLst/>
          </a:prstGeom>
          <a:noFill/>
          <a:ln>
            <a:noFill/>
          </a:ln>
        </p:spPr>
      </p:pic>
      <p:pic>
        <p:nvPicPr>
          <p:cNvPr id="197" name="Google Shape;197;p22"/>
          <p:cNvPicPr preferRelativeResize="0"/>
          <p:nvPr/>
        </p:nvPicPr>
        <p:blipFill rotWithShape="1">
          <a:blip r:embed="rId5">
            <a:alphaModFix/>
          </a:blip>
          <a:srcRect/>
          <a:stretch/>
        </p:blipFill>
        <p:spPr>
          <a:xfrm>
            <a:off x="10315726" y="464457"/>
            <a:ext cx="1544422" cy="774338"/>
          </a:xfrm>
          <a:prstGeom prst="rect">
            <a:avLst/>
          </a:prstGeom>
          <a:noFill/>
          <a:ln>
            <a:noFill/>
          </a:ln>
        </p:spPr>
      </p:pic>
      <p:pic>
        <p:nvPicPr>
          <p:cNvPr id="198" name="Google Shape;198;p22"/>
          <p:cNvPicPr preferRelativeResize="0"/>
          <p:nvPr/>
        </p:nvPicPr>
        <p:blipFill rotWithShape="1">
          <a:blip r:embed="rId6">
            <a:alphaModFix/>
          </a:blip>
          <a:srcRect/>
          <a:stretch/>
        </p:blipFill>
        <p:spPr>
          <a:xfrm rot="-589488">
            <a:off x="533303" y="747190"/>
            <a:ext cx="202415" cy="158251"/>
          </a:xfrm>
          <a:prstGeom prst="rect">
            <a:avLst/>
          </a:prstGeom>
          <a:noFill/>
          <a:ln>
            <a:noFill/>
          </a:ln>
        </p:spPr>
      </p:pic>
      <p:pic>
        <p:nvPicPr>
          <p:cNvPr id="199" name="Google Shape;199;p22"/>
          <p:cNvPicPr preferRelativeResize="0"/>
          <p:nvPr/>
        </p:nvPicPr>
        <p:blipFill rotWithShape="1">
          <a:blip r:embed="rId7">
            <a:alphaModFix/>
          </a:blip>
          <a:srcRect/>
          <a:stretch/>
        </p:blipFill>
        <p:spPr>
          <a:xfrm rot="-605715">
            <a:off x="4143809" y="714916"/>
            <a:ext cx="124112" cy="97032"/>
          </a:xfrm>
          <a:prstGeom prst="rect">
            <a:avLst/>
          </a:prstGeom>
          <a:noFill/>
          <a:ln>
            <a:noFill/>
          </a:ln>
        </p:spPr>
      </p:pic>
      <p:grpSp>
        <p:nvGrpSpPr>
          <p:cNvPr id="200" name="Google Shape;200;p22"/>
          <p:cNvGrpSpPr/>
          <p:nvPr/>
        </p:nvGrpSpPr>
        <p:grpSpPr>
          <a:xfrm>
            <a:off x="10760641" y="2365829"/>
            <a:ext cx="685825" cy="3214201"/>
            <a:chOff x="11059391" y="2420023"/>
            <a:chExt cx="668892" cy="3134840"/>
          </a:xfrm>
        </p:grpSpPr>
        <p:sp>
          <p:nvSpPr>
            <p:cNvPr id="201" name="Google Shape;201;p22"/>
            <p:cNvSpPr/>
            <p:nvPr/>
          </p:nvSpPr>
          <p:spPr>
            <a:xfrm rot="5400000">
              <a:off x="10934570" y="352398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22"/>
            <p:cNvSpPr/>
            <p:nvPr/>
          </p:nvSpPr>
          <p:spPr>
            <a:xfrm rot="5400000">
              <a:off x="11081233" y="504176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22"/>
            <p:cNvSpPr/>
            <p:nvPr/>
          </p:nvSpPr>
          <p:spPr>
            <a:xfrm rot="5400000">
              <a:off x="11081802" y="287111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22"/>
            <p:cNvSpPr/>
            <p:nvPr/>
          </p:nvSpPr>
          <p:spPr>
            <a:xfrm rot="5400000">
              <a:off x="11093113" y="416978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22"/>
            <p:cNvSpPr/>
            <p:nvPr/>
          </p:nvSpPr>
          <p:spPr>
            <a:xfrm rot="5400000">
              <a:off x="11086918" y="241187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22"/>
            <p:cNvSpPr/>
            <p:nvPr/>
          </p:nvSpPr>
          <p:spPr>
            <a:xfrm rot="5400000">
              <a:off x="11219643" y="4563687"/>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8" name="Google Shape;208;p22"/>
          <p:cNvSpPr txBox="1"/>
          <p:nvPr/>
        </p:nvSpPr>
        <p:spPr>
          <a:xfrm>
            <a:off x="1027335" y="1615105"/>
            <a:ext cx="3291522" cy="307777"/>
          </a:xfrm>
          <a:prstGeom prst="rect">
            <a:avLst/>
          </a:prstGeom>
          <a:noFill/>
          <a:ln>
            <a:noFill/>
          </a:ln>
        </p:spPr>
        <p:txBody>
          <a:bodyPr spcFirstLastPara="1" wrap="square" lIns="91425" tIns="45700" rIns="91425" bIns="45700" anchor="t" anchorCtr="0">
            <a:spAutoFit/>
          </a:bodyPr>
          <a:lstStyle/>
          <a:p>
            <a:pPr lvl="0"/>
            <a:r>
              <a:rPr lang="en-US" dirty="0">
                <a:solidFill>
                  <a:srgbClr val="0C0C0C"/>
                </a:solidFill>
                <a:latin typeface="Calibri"/>
                <a:ea typeface="Calibri"/>
                <a:cs typeface="Calibri"/>
                <a:sym typeface="Calibri"/>
              </a:rPr>
              <a:t>Import data</a:t>
            </a:r>
            <a:endParaRPr sz="1400" dirty="0">
              <a:solidFill>
                <a:srgbClr val="0C0C0C"/>
              </a:solidFill>
              <a:latin typeface="Calibri"/>
              <a:ea typeface="Calibri"/>
              <a:cs typeface="Calibri"/>
              <a:sym typeface="Calibri"/>
            </a:endParaRPr>
          </a:p>
        </p:txBody>
      </p:sp>
      <p:sp>
        <p:nvSpPr>
          <p:cNvPr id="210" name="Google Shape;210;p22"/>
          <p:cNvSpPr txBox="1"/>
          <p:nvPr/>
        </p:nvSpPr>
        <p:spPr>
          <a:xfrm>
            <a:off x="1027335" y="2798115"/>
            <a:ext cx="3291522" cy="307777"/>
          </a:xfrm>
          <a:prstGeom prst="rect">
            <a:avLst/>
          </a:prstGeom>
          <a:noFill/>
          <a:ln>
            <a:noFill/>
          </a:ln>
        </p:spPr>
        <p:txBody>
          <a:bodyPr spcFirstLastPara="1" wrap="square" lIns="91425" tIns="45700" rIns="91425" bIns="45700" anchor="t" anchorCtr="0">
            <a:spAutoFit/>
          </a:bodyPr>
          <a:lstStyle/>
          <a:p>
            <a:pPr lvl="0"/>
            <a:r>
              <a:rPr lang="en-US" dirty="0">
                <a:solidFill>
                  <a:srgbClr val="0C0C0C"/>
                </a:solidFill>
                <a:latin typeface="Calibri"/>
                <a:ea typeface="Calibri"/>
                <a:cs typeface="Calibri"/>
                <a:sym typeface="Calibri"/>
              </a:rPr>
              <a:t>Data cleaning</a:t>
            </a:r>
          </a:p>
        </p:txBody>
      </p:sp>
      <p:sp>
        <p:nvSpPr>
          <p:cNvPr id="212" name="Google Shape;212;p22"/>
          <p:cNvSpPr txBox="1"/>
          <p:nvPr/>
        </p:nvSpPr>
        <p:spPr>
          <a:xfrm>
            <a:off x="1027335" y="3948461"/>
            <a:ext cx="3291522" cy="307777"/>
          </a:xfrm>
          <a:prstGeom prst="rect">
            <a:avLst/>
          </a:prstGeom>
          <a:noFill/>
          <a:ln>
            <a:noFill/>
          </a:ln>
        </p:spPr>
        <p:txBody>
          <a:bodyPr spcFirstLastPara="1" wrap="square" lIns="91425" tIns="45700" rIns="91425" bIns="45700" anchor="t" anchorCtr="0">
            <a:spAutoFit/>
          </a:bodyPr>
          <a:lstStyle/>
          <a:p>
            <a:pPr lvl="0"/>
            <a:r>
              <a:rPr lang="en-US" dirty="0">
                <a:solidFill>
                  <a:srgbClr val="0C0C0C"/>
                </a:solidFill>
                <a:latin typeface="Calibri"/>
                <a:ea typeface="Calibri"/>
                <a:cs typeface="Calibri"/>
                <a:sym typeface="Calibri"/>
              </a:rPr>
              <a:t>Identifying important columns</a:t>
            </a:r>
            <a:endParaRPr sz="1400" dirty="0">
              <a:solidFill>
                <a:srgbClr val="0C0C0C"/>
              </a:solidFill>
              <a:latin typeface="Calibri"/>
              <a:ea typeface="Calibri"/>
              <a:cs typeface="Calibri"/>
              <a:sym typeface="Calibri"/>
            </a:endParaRPr>
          </a:p>
        </p:txBody>
      </p:sp>
      <p:sp>
        <p:nvSpPr>
          <p:cNvPr id="214" name="Google Shape;214;p22"/>
          <p:cNvSpPr txBox="1"/>
          <p:nvPr/>
        </p:nvSpPr>
        <p:spPr>
          <a:xfrm>
            <a:off x="987913" y="5075304"/>
            <a:ext cx="3291522" cy="370189"/>
          </a:xfrm>
          <a:prstGeom prst="rect">
            <a:avLst/>
          </a:prstGeom>
          <a:noFill/>
          <a:ln>
            <a:noFill/>
          </a:ln>
        </p:spPr>
        <p:txBody>
          <a:bodyPr spcFirstLastPara="1" wrap="square" lIns="91425" tIns="45700" rIns="91425" bIns="45700" anchor="t" anchorCtr="0">
            <a:spAutoFit/>
          </a:bodyPr>
          <a:lstStyle/>
          <a:p>
            <a:pPr lvl="0">
              <a:lnSpc>
                <a:spcPct val="128571"/>
              </a:lnSpc>
            </a:pPr>
            <a:r>
              <a:rPr lang="en-US" dirty="0">
                <a:solidFill>
                  <a:srgbClr val="0C0C0C"/>
                </a:solidFill>
                <a:latin typeface="Calibri"/>
                <a:ea typeface="Calibri"/>
                <a:cs typeface="Calibri"/>
                <a:sym typeface="Calibri"/>
              </a:rPr>
              <a:t>Treating nulls and missing values</a:t>
            </a:r>
          </a:p>
        </p:txBody>
      </p:sp>
      <p:sp>
        <p:nvSpPr>
          <p:cNvPr id="215" name="Google Shape;215;p22"/>
          <p:cNvSpPr/>
          <p:nvPr/>
        </p:nvSpPr>
        <p:spPr>
          <a:xfrm>
            <a:off x="710121" y="4006552"/>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22"/>
          <p:cNvSpPr txBox="1"/>
          <p:nvPr/>
        </p:nvSpPr>
        <p:spPr>
          <a:xfrm>
            <a:off x="5327517" y="1619472"/>
            <a:ext cx="3291522" cy="307777"/>
          </a:xfrm>
          <a:prstGeom prst="rect">
            <a:avLst/>
          </a:prstGeom>
          <a:noFill/>
          <a:ln>
            <a:noFill/>
          </a:ln>
        </p:spPr>
        <p:txBody>
          <a:bodyPr spcFirstLastPara="1" wrap="square" lIns="91425" tIns="45700" rIns="91425" bIns="45700" anchor="t" anchorCtr="0">
            <a:spAutoFit/>
          </a:bodyPr>
          <a:lstStyle/>
          <a:p>
            <a:pPr lvl="0"/>
            <a:r>
              <a:rPr lang="en-US" dirty="0">
                <a:solidFill>
                  <a:srgbClr val="0C0C0C"/>
                </a:solidFill>
                <a:latin typeface="Calibri"/>
                <a:ea typeface="Calibri"/>
                <a:cs typeface="Calibri"/>
                <a:sym typeface="Calibri"/>
              </a:rPr>
              <a:t>Data modelling (connecting tables)</a:t>
            </a:r>
            <a:endParaRPr sz="1400" dirty="0">
              <a:solidFill>
                <a:srgbClr val="0C0C0C"/>
              </a:solidFill>
              <a:latin typeface="Calibri"/>
              <a:ea typeface="Calibri"/>
              <a:cs typeface="Calibri"/>
              <a:sym typeface="Calibri"/>
            </a:endParaRPr>
          </a:p>
        </p:txBody>
      </p:sp>
      <p:sp>
        <p:nvSpPr>
          <p:cNvPr id="218" name="Google Shape;218;p22"/>
          <p:cNvSpPr txBox="1"/>
          <p:nvPr/>
        </p:nvSpPr>
        <p:spPr>
          <a:xfrm>
            <a:off x="5327517" y="2796364"/>
            <a:ext cx="3291522" cy="307777"/>
          </a:xfrm>
          <a:prstGeom prst="rect">
            <a:avLst/>
          </a:prstGeom>
          <a:noFill/>
          <a:ln>
            <a:noFill/>
          </a:ln>
        </p:spPr>
        <p:txBody>
          <a:bodyPr spcFirstLastPara="1" wrap="square" lIns="91425" tIns="45700" rIns="91425" bIns="45700" anchor="t" anchorCtr="0">
            <a:spAutoFit/>
          </a:bodyPr>
          <a:lstStyle/>
          <a:p>
            <a:pPr lvl="0"/>
            <a:r>
              <a:rPr lang="en-US" dirty="0">
                <a:solidFill>
                  <a:srgbClr val="0C0C0C"/>
                </a:solidFill>
                <a:latin typeface="Calibri"/>
                <a:ea typeface="Calibri"/>
                <a:cs typeface="Calibri"/>
                <a:sym typeface="Calibri"/>
              </a:rPr>
              <a:t>Identifying Key Value Indicators</a:t>
            </a:r>
            <a:endParaRPr sz="1400" dirty="0">
              <a:solidFill>
                <a:srgbClr val="0C0C0C"/>
              </a:solidFill>
              <a:latin typeface="Calibri"/>
              <a:ea typeface="Calibri"/>
              <a:cs typeface="Calibri"/>
              <a:sym typeface="Calibri"/>
            </a:endParaRPr>
          </a:p>
        </p:txBody>
      </p:sp>
      <p:sp>
        <p:nvSpPr>
          <p:cNvPr id="219" name="Google Shape;219;p22"/>
          <p:cNvSpPr txBox="1"/>
          <p:nvPr/>
        </p:nvSpPr>
        <p:spPr>
          <a:xfrm>
            <a:off x="5327517" y="3927574"/>
            <a:ext cx="4060688" cy="370189"/>
          </a:xfrm>
          <a:prstGeom prst="rect">
            <a:avLst/>
          </a:prstGeom>
          <a:noFill/>
          <a:ln>
            <a:noFill/>
          </a:ln>
        </p:spPr>
        <p:txBody>
          <a:bodyPr spcFirstLastPara="1" wrap="square" lIns="91425" tIns="45700" rIns="91425" bIns="45700" anchor="t" anchorCtr="0">
            <a:spAutoFit/>
          </a:bodyPr>
          <a:lstStyle/>
          <a:p>
            <a:pPr lvl="0">
              <a:lnSpc>
                <a:spcPct val="128571"/>
              </a:lnSpc>
            </a:pPr>
            <a:r>
              <a:rPr lang="en-US" dirty="0">
                <a:solidFill>
                  <a:srgbClr val="0C0C0C"/>
                </a:solidFill>
                <a:latin typeface="Calibri"/>
                <a:ea typeface="Calibri"/>
                <a:cs typeface="Calibri"/>
                <a:sym typeface="Calibri"/>
              </a:rPr>
              <a:t>Analyzing and creating calculated measures/columns</a:t>
            </a:r>
          </a:p>
        </p:txBody>
      </p:sp>
      <p:sp>
        <p:nvSpPr>
          <p:cNvPr id="220" name="Google Shape;220;p22"/>
          <p:cNvSpPr/>
          <p:nvPr/>
        </p:nvSpPr>
        <p:spPr>
          <a:xfrm>
            <a:off x="696672" y="5198410"/>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22"/>
          <p:cNvSpPr txBox="1"/>
          <p:nvPr/>
        </p:nvSpPr>
        <p:spPr>
          <a:xfrm>
            <a:off x="5302852" y="5134128"/>
            <a:ext cx="3291522" cy="307777"/>
          </a:xfrm>
          <a:prstGeom prst="rect">
            <a:avLst/>
          </a:prstGeom>
          <a:noFill/>
          <a:ln>
            <a:noFill/>
          </a:ln>
        </p:spPr>
        <p:txBody>
          <a:bodyPr spcFirstLastPara="1" wrap="square" lIns="91425" tIns="45700" rIns="91425" bIns="45700" anchor="t" anchorCtr="0">
            <a:spAutoFit/>
          </a:bodyPr>
          <a:lstStyle/>
          <a:p>
            <a:pPr lvl="0"/>
            <a:r>
              <a:rPr lang="en-US" dirty="0">
                <a:solidFill>
                  <a:srgbClr val="0C0C0C"/>
                </a:solidFill>
                <a:latin typeface="Calibri"/>
                <a:ea typeface="Calibri"/>
                <a:cs typeface="Calibri"/>
                <a:sym typeface="Calibri"/>
              </a:rPr>
              <a:t>Visualizing the data </a:t>
            </a:r>
            <a:endParaRPr sz="1400" dirty="0">
              <a:solidFill>
                <a:srgbClr val="0C0C0C"/>
              </a:solidFill>
              <a:latin typeface="Calibri"/>
              <a:ea typeface="Calibri"/>
              <a:cs typeface="Calibri"/>
              <a:sym typeface="Calibri"/>
            </a:endParaRPr>
          </a:p>
        </p:txBody>
      </p:sp>
      <p:sp>
        <p:nvSpPr>
          <p:cNvPr id="222" name="Google Shape;222;p22"/>
          <p:cNvSpPr/>
          <p:nvPr/>
        </p:nvSpPr>
        <p:spPr>
          <a:xfrm>
            <a:off x="5011611" y="1678265"/>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22"/>
          <p:cNvSpPr/>
          <p:nvPr/>
        </p:nvSpPr>
        <p:spPr>
          <a:xfrm>
            <a:off x="5011611" y="2850103"/>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22"/>
          <p:cNvSpPr/>
          <p:nvPr/>
        </p:nvSpPr>
        <p:spPr>
          <a:xfrm>
            <a:off x="5011611" y="5208917"/>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22"/>
          <p:cNvSpPr txBox="1">
            <a:spLocks noGrp="1"/>
          </p:cNvSpPr>
          <p:nvPr>
            <p:ph type="title"/>
          </p:nvPr>
        </p:nvSpPr>
        <p:spPr>
          <a:xfrm>
            <a:off x="698500" y="592137"/>
            <a:ext cx="5283200" cy="511679"/>
          </a:xfrm>
          <a:prstGeom prst="rect">
            <a:avLst/>
          </a:prstGeom>
          <a:noFill/>
          <a:ln>
            <a:noFill/>
          </a:ln>
        </p:spPr>
        <p:txBody>
          <a:bodyPr spcFirstLastPara="1" wrap="square" lIns="91425" tIns="45700" rIns="91425" bIns="45700" anchor="t" anchorCtr="0">
            <a:spAutoFit/>
          </a:bodyPr>
          <a:lstStyle/>
          <a:p>
            <a:pPr lvl="0"/>
            <a:r>
              <a:rPr lang="en-US" dirty="0"/>
              <a:t>Process Involved</a:t>
            </a:r>
          </a:p>
        </p:txBody>
      </p:sp>
      <p:sp>
        <p:nvSpPr>
          <p:cNvPr id="3" name="Google Shape;230;p22">
            <a:extLst>
              <a:ext uri="{FF2B5EF4-FFF2-40B4-BE49-F238E27FC236}">
                <a16:creationId xmlns:a16="http://schemas.microsoft.com/office/drawing/2014/main" id="{EACEC43E-69EB-B425-CA2D-C9695D29158E}"/>
              </a:ext>
            </a:extLst>
          </p:cNvPr>
          <p:cNvSpPr/>
          <p:nvPr/>
        </p:nvSpPr>
        <p:spPr>
          <a:xfrm>
            <a:off x="5011611" y="4006552"/>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 name="Google Shape;117;p18">
            <a:extLst>
              <a:ext uri="{FF2B5EF4-FFF2-40B4-BE49-F238E27FC236}">
                <a16:creationId xmlns:a16="http://schemas.microsoft.com/office/drawing/2014/main" id="{A070B40E-CEA3-9B85-AEE6-7ED7A2EC766D}"/>
              </a:ext>
            </a:extLst>
          </p:cNvPr>
          <p:cNvPicPr preferRelativeResize="0"/>
          <p:nvPr/>
        </p:nvPicPr>
        <p:blipFill rotWithShape="1">
          <a:blip r:embed="rId8">
            <a:alphaModFix/>
          </a:blip>
          <a:srcRect/>
          <a:stretch/>
        </p:blipFill>
        <p:spPr>
          <a:xfrm>
            <a:off x="157316" y="1103816"/>
            <a:ext cx="437312" cy="322404"/>
          </a:xfrm>
          <a:prstGeom prst="rect">
            <a:avLst/>
          </a:prstGeom>
          <a:noFill/>
          <a:ln>
            <a:noFill/>
          </a:ln>
        </p:spPr>
      </p:pic>
      <p:sp>
        <p:nvSpPr>
          <p:cNvPr id="12" name="Google Shape;215;p22">
            <a:extLst>
              <a:ext uri="{FF2B5EF4-FFF2-40B4-BE49-F238E27FC236}">
                <a16:creationId xmlns:a16="http://schemas.microsoft.com/office/drawing/2014/main" id="{E41A9FA3-2CB5-8355-7B67-F35A228010AA}"/>
              </a:ext>
            </a:extLst>
          </p:cNvPr>
          <p:cNvSpPr/>
          <p:nvPr/>
        </p:nvSpPr>
        <p:spPr>
          <a:xfrm>
            <a:off x="705209" y="2880756"/>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215;p22">
            <a:extLst>
              <a:ext uri="{FF2B5EF4-FFF2-40B4-BE49-F238E27FC236}">
                <a16:creationId xmlns:a16="http://schemas.microsoft.com/office/drawing/2014/main" id="{35A5272B-1B2E-CD19-F5C9-B6BB1001D100}"/>
              </a:ext>
            </a:extLst>
          </p:cNvPr>
          <p:cNvSpPr/>
          <p:nvPr/>
        </p:nvSpPr>
        <p:spPr>
          <a:xfrm>
            <a:off x="715041" y="1691045"/>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5" name="Google Shape;117;p18">
            <a:extLst>
              <a:ext uri="{FF2B5EF4-FFF2-40B4-BE49-F238E27FC236}">
                <a16:creationId xmlns:a16="http://schemas.microsoft.com/office/drawing/2014/main" id="{21CC1291-180B-2B6B-AF82-8E3E597F20AC}"/>
              </a:ext>
            </a:extLst>
          </p:cNvPr>
          <p:cNvPicPr preferRelativeResize="0"/>
          <p:nvPr/>
        </p:nvPicPr>
        <p:blipFill rotWithShape="1">
          <a:blip r:embed="rId8">
            <a:alphaModFix/>
          </a:blip>
          <a:srcRect/>
          <a:stretch/>
        </p:blipFill>
        <p:spPr>
          <a:xfrm>
            <a:off x="7604344" y="1098648"/>
            <a:ext cx="437312" cy="322404"/>
          </a:xfrm>
          <a:prstGeom prst="rect">
            <a:avLst/>
          </a:prstGeom>
          <a:noFill/>
          <a:ln>
            <a:noFill/>
          </a:ln>
        </p:spPr>
      </p:pic>
      <p:pic>
        <p:nvPicPr>
          <p:cNvPr id="16" name="Google Shape;117;p18">
            <a:extLst>
              <a:ext uri="{FF2B5EF4-FFF2-40B4-BE49-F238E27FC236}">
                <a16:creationId xmlns:a16="http://schemas.microsoft.com/office/drawing/2014/main" id="{0BDC21E5-6D15-A823-DF02-D0F27ADB5E72}"/>
              </a:ext>
            </a:extLst>
          </p:cNvPr>
          <p:cNvPicPr preferRelativeResize="0"/>
          <p:nvPr/>
        </p:nvPicPr>
        <p:blipFill rotWithShape="1">
          <a:blip r:embed="rId8">
            <a:alphaModFix/>
          </a:blip>
          <a:srcRect/>
          <a:stretch/>
        </p:blipFill>
        <p:spPr>
          <a:xfrm rot="16200000">
            <a:off x="4726354" y="4556470"/>
            <a:ext cx="437312" cy="3224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26"/>
          <p:cNvPicPr preferRelativeResize="0"/>
          <p:nvPr/>
        </p:nvPicPr>
        <p:blipFill>
          <a:blip r:embed="rId3">
            <a:alphaModFix/>
          </a:blip>
          <a:stretch>
            <a:fillRect/>
          </a:stretch>
        </p:blipFill>
        <p:spPr>
          <a:xfrm>
            <a:off x="7905000" y="0"/>
            <a:ext cx="4283725" cy="6858000"/>
          </a:xfrm>
          <a:prstGeom prst="rect">
            <a:avLst/>
          </a:prstGeom>
          <a:noFill/>
          <a:ln>
            <a:noFill/>
          </a:ln>
        </p:spPr>
      </p:pic>
      <p:pic>
        <p:nvPicPr>
          <p:cNvPr id="345" name="Google Shape;345;p26"/>
          <p:cNvPicPr preferRelativeResize="0"/>
          <p:nvPr/>
        </p:nvPicPr>
        <p:blipFill rotWithShape="1">
          <a:blip r:embed="rId4">
            <a:alphaModFix/>
          </a:blip>
          <a:srcRect/>
          <a:stretch/>
        </p:blipFill>
        <p:spPr>
          <a:xfrm rot="-589488">
            <a:off x="495690" y="680515"/>
            <a:ext cx="202415" cy="158251"/>
          </a:xfrm>
          <a:prstGeom prst="rect">
            <a:avLst/>
          </a:prstGeom>
          <a:noFill/>
          <a:ln>
            <a:noFill/>
          </a:ln>
        </p:spPr>
      </p:pic>
      <p:pic>
        <p:nvPicPr>
          <p:cNvPr id="346" name="Google Shape;346;p26"/>
          <p:cNvPicPr preferRelativeResize="0"/>
          <p:nvPr/>
        </p:nvPicPr>
        <p:blipFill rotWithShape="1">
          <a:blip r:embed="rId5">
            <a:alphaModFix/>
          </a:blip>
          <a:srcRect/>
          <a:stretch/>
        </p:blipFill>
        <p:spPr>
          <a:xfrm rot="-605715">
            <a:off x="2915231" y="647288"/>
            <a:ext cx="124112" cy="97032"/>
          </a:xfrm>
          <a:prstGeom prst="rect">
            <a:avLst/>
          </a:prstGeom>
          <a:noFill/>
          <a:ln>
            <a:noFill/>
          </a:ln>
        </p:spPr>
      </p:pic>
      <p:pic>
        <p:nvPicPr>
          <p:cNvPr id="347" name="Google Shape;347;p26"/>
          <p:cNvPicPr preferRelativeResize="0"/>
          <p:nvPr/>
        </p:nvPicPr>
        <p:blipFill rotWithShape="1">
          <a:blip r:embed="rId6">
            <a:alphaModFix/>
          </a:blip>
          <a:srcRect/>
          <a:stretch/>
        </p:blipFill>
        <p:spPr>
          <a:xfrm>
            <a:off x="10818935" y="838200"/>
            <a:ext cx="1544422" cy="774338"/>
          </a:xfrm>
          <a:prstGeom prst="rect">
            <a:avLst/>
          </a:prstGeom>
          <a:noFill/>
          <a:ln>
            <a:noFill/>
          </a:ln>
        </p:spPr>
      </p:pic>
      <p:grpSp>
        <p:nvGrpSpPr>
          <p:cNvPr id="4" name="Group 3">
            <a:extLst>
              <a:ext uri="{FF2B5EF4-FFF2-40B4-BE49-F238E27FC236}">
                <a16:creationId xmlns:a16="http://schemas.microsoft.com/office/drawing/2014/main" id="{01369FD5-2BB8-0B11-B40A-A61D6DD64D74}"/>
              </a:ext>
            </a:extLst>
          </p:cNvPr>
          <p:cNvGrpSpPr/>
          <p:nvPr/>
        </p:nvGrpSpPr>
        <p:grpSpPr>
          <a:xfrm>
            <a:off x="667827" y="1709914"/>
            <a:ext cx="6008278" cy="3675633"/>
            <a:chOff x="3057071" y="1709914"/>
            <a:chExt cx="6008278" cy="3675633"/>
          </a:xfrm>
        </p:grpSpPr>
        <p:cxnSp>
          <p:nvCxnSpPr>
            <p:cNvPr id="349" name="Google Shape;349;p26"/>
            <p:cNvCxnSpPr>
              <a:cxnSpLocks/>
            </p:cNvCxnSpPr>
            <p:nvPr/>
          </p:nvCxnSpPr>
          <p:spPr>
            <a:xfrm>
              <a:off x="3057071" y="1857375"/>
              <a:ext cx="0" cy="3319653"/>
            </a:xfrm>
            <a:prstGeom prst="straightConnector1">
              <a:avLst/>
            </a:prstGeom>
            <a:noFill/>
            <a:ln w="9525" cap="flat" cmpd="sng">
              <a:solidFill>
                <a:schemeClr val="accent1"/>
              </a:solidFill>
              <a:prstDash val="solid"/>
              <a:miter lim="800000"/>
              <a:headEnd type="none" w="sm" len="sm"/>
              <a:tailEnd type="none" w="sm" len="sm"/>
            </a:ln>
          </p:spPr>
        </p:cxnSp>
        <p:cxnSp>
          <p:nvCxnSpPr>
            <p:cNvPr id="350" name="Google Shape;350;p26"/>
            <p:cNvCxnSpPr/>
            <p:nvPr/>
          </p:nvCxnSpPr>
          <p:spPr>
            <a:xfrm>
              <a:off x="3057071" y="1866900"/>
              <a:ext cx="438150" cy="0"/>
            </a:xfrm>
            <a:prstGeom prst="straightConnector1">
              <a:avLst/>
            </a:prstGeom>
            <a:noFill/>
            <a:ln w="9525" cap="flat" cmpd="sng">
              <a:solidFill>
                <a:schemeClr val="accent1"/>
              </a:solidFill>
              <a:prstDash val="solid"/>
              <a:miter lim="800000"/>
              <a:headEnd type="none" w="sm" len="sm"/>
              <a:tailEnd type="oval" w="med" len="med"/>
            </a:ln>
          </p:spPr>
        </p:cxnSp>
        <p:cxnSp>
          <p:nvCxnSpPr>
            <p:cNvPr id="351" name="Google Shape;351;p26"/>
            <p:cNvCxnSpPr/>
            <p:nvPr/>
          </p:nvCxnSpPr>
          <p:spPr>
            <a:xfrm>
              <a:off x="3057071" y="2694432"/>
              <a:ext cx="438150" cy="0"/>
            </a:xfrm>
            <a:prstGeom prst="straightConnector1">
              <a:avLst/>
            </a:prstGeom>
            <a:noFill/>
            <a:ln w="9525" cap="flat" cmpd="sng">
              <a:solidFill>
                <a:schemeClr val="accent1"/>
              </a:solidFill>
              <a:prstDash val="solid"/>
              <a:miter lim="800000"/>
              <a:headEnd type="none" w="sm" len="sm"/>
              <a:tailEnd type="oval" w="med" len="med"/>
            </a:ln>
          </p:spPr>
        </p:cxnSp>
        <p:cxnSp>
          <p:nvCxnSpPr>
            <p:cNvPr id="352" name="Google Shape;352;p26"/>
            <p:cNvCxnSpPr/>
            <p:nvPr/>
          </p:nvCxnSpPr>
          <p:spPr>
            <a:xfrm>
              <a:off x="3057071" y="3521964"/>
              <a:ext cx="438150" cy="0"/>
            </a:xfrm>
            <a:prstGeom prst="straightConnector1">
              <a:avLst/>
            </a:prstGeom>
            <a:noFill/>
            <a:ln w="9525" cap="flat" cmpd="sng">
              <a:solidFill>
                <a:schemeClr val="accent1"/>
              </a:solidFill>
              <a:prstDash val="solid"/>
              <a:miter lim="800000"/>
              <a:headEnd type="none" w="sm" len="sm"/>
              <a:tailEnd type="oval" w="med" len="med"/>
            </a:ln>
          </p:spPr>
        </p:cxnSp>
        <p:cxnSp>
          <p:nvCxnSpPr>
            <p:cNvPr id="353" name="Google Shape;353;p26"/>
            <p:cNvCxnSpPr/>
            <p:nvPr/>
          </p:nvCxnSpPr>
          <p:spPr>
            <a:xfrm>
              <a:off x="3057071" y="4349496"/>
              <a:ext cx="438150" cy="0"/>
            </a:xfrm>
            <a:prstGeom prst="straightConnector1">
              <a:avLst/>
            </a:prstGeom>
            <a:noFill/>
            <a:ln w="9525" cap="flat" cmpd="sng">
              <a:solidFill>
                <a:schemeClr val="accent1"/>
              </a:solidFill>
              <a:prstDash val="solid"/>
              <a:miter lim="800000"/>
              <a:headEnd type="none" w="sm" len="sm"/>
              <a:tailEnd type="oval" w="med" len="med"/>
            </a:ln>
          </p:spPr>
        </p:cxnSp>
        <p:cxnSp>
          <p:nvCxnSpPr>
            <p:cNvPr id="354" name="Google Shape;354;p26"/>
            <p:cNvCxnSpPr/>
            <p:nvPr/>
          </p:nvCxnSpPr>
          <p:spPr>
            <a:xfrm>
              <a:off x="3057071" y="5177028"/>
              <a:ext cx="438150" cy="0"/>
            </a:xfrm>
            <a:prstGeom prst="straightConnector1">
              <a:avLst/>
            </a:prstGeom>
            <a:noFill/>
            <a:ln w="9525" cap="flat" cmpd="sng">
              <a:solidFill>
                <a:schemeClr val="accent1"/>
              </a:solidFill>
              <a:prstDash val="solid"/>
              <a:miter lim="800000"/>
              <a:headEnd type="none" w="sm" len="sm"/>
              <a:tailEnd type="oval" w="med" len="med"/>
            </a:ln>
          </p:spPr>
        </p:cxnSp>
        <p:sp>
          <p:nvSpPr>
            <p:cNvPr id="356" name="Google Shape;356;p26"/>
            <p:cNvSpPr txBox="1"/>
            <p:nvPr/>
          </p:nvSpPr>
          <p:spPr>
            <a:xfrm>
              <a:off x="3515938" y="1709914"/>
              <a:ext cx="4443334" cy="370189"/>
            </a:xfrm>
            <a:prstGeom prst="rect">
              <a:avLst/>
            </a:prstGeom>
            <a:noFill/>
            <a:ln>
              <a:noFill/>
            </a:ln>
          </p:spPr>
          <p:txBody>
            <a:bodyPr spcFirstLastPara="1" wrap="square" lIns="91425" tIns="45700" rIns="91425" bIns="45700" anchor="t" anchorCtr="0">
              <a:spAutoFit/>
            </a:bodyPr>
            <a:lstStyle/>
            <a:p>
              <a:pPr lvl="0">
                <a:lnSpc>
                  <a:spcPct val="128571"/>
                </a:lnSpc>
              </a:pPr>
              <a:r>
                <a:rPr lang="en-US" b="1" dirty="0">
                  <a:solidFill>
                    <a:srgbClr val="0C0C0C"/>
                  </a:solidFill>
                  <a:latin typeface="Calibri"/>
                  <a:ea typeface="Calibri"/>
                  <a:cs typeface="Calibri"/>
                  <a:sym typeface="Calibri"/>
                </a:rPr>
                <a:t>SQL</a:t>
              </a:r>
              <a:r>
                <a:rPr lang="en-US" dirty="0">
                  <a:solidFill>
                    <a:srgbClr val="0C0C0C"/>
                  </a:solidFill>
                  <a:latin typeface="Calibri"/>
                  <a:ea typeface="Calibri"/>
                  <a:cs typeface="Calibri"/>
                  <a:sym typeface="Calibri"/>
                </a:rPr>
                <a:t> to fetch data from the databases.</a:t>
              </a:r>
            </a:p>
          </p:txBody>
        </p:sp>
        <p:sp>
          <p:nvSpPr>
            <p:cNvPr id="357" name="Google Shape;357;p26"/>
            <p:cNvSpPr txBox="1"/>
            <p:nvPr/>
          </p:nvSpPr>
          <p:spPr>
            <a:xfrm>
              <a:off x="3515937" y="2536275"/>
              <a:ext cx="4902201" cy="370189"/>
            </a:xfrm>
            <a:prstGeom prst="rect">
              <a:avLst/>
            </a:prstGeom>
            <a:noFill/>
            <a:ln>
              <a:noFill/>
            </a:ln>
          </p:spPr>
          <p:txBody>
            <a:bodyPr spcFirstLastPara="1" wrap="square" lIns="91425" tIns="45700" rIns="91425" bIns="45700" anchor="t" anchorCtr="0">
              <a:spAutoFit/>
            </a:bodyPr>
            <a:lstStyle/>
            <a:p>
              <a:pPr lvl="0">
                <a:lnSpc>
                  <a:spcPct val="128571"/>
                </a:lnSpc>
              </a:pPr>
              <a:r>
                <a:rPr lang="en-US" b="1" dirty="0">
                  <a:solidFill>
                    <a:srgbClr val="0C0C0C"/>
                  </a:solidFill>
                  <a:latin typeface="Calibri"/>
                  <a:ea typeface="Calibri"/>
                  <a:cs typeface="Calibri"/>
                  <a:sym typeface="Calibri"/>
                </a:rPr>
                <a:t>Power query editor </a:t>
              </a:r>
              <a:r>
                <a:rPr lang="en-US" dirty="0">
                  <a:solidFill>
                    <a:srgbClr val="0C0C0C"/>
                  </a:solidFill>
                  <a:latin typeface="Calibri"/>
                  <a:ea typeface="Calibri"/>
                  <a:cs typeface="Calibri"/>
                  <a:sym typeface="Calibri"/>
                </a:rPr>
                <a:t>to transform the data.</a:t>
              </a:r>
              <a:endParaRPr sz="1400" dirty="0">
                <a:solidFill>
                  <a:srgbClr val="0C0C0C"/>
                </a:solidFill>
                <a:latin typeface="Calibri"/>
                <a:ea typeface="Calibri"/>
                <a:cs typeface="Calibri"/>
                <a:sym typeface="Calibri"/>
              </a:endParaRPr>
            </a:p>
          </p:txBody>
        </p:sp>
        <p:sp>
          <p:nvSpPr>
            <p:cNvPr id="358" name="Google Shape;358;p26"/>
            <p:cNvSpPr txBox="1"/>
            <p:nvPr/>
          </p:nvSpPr>
          <p:spPr>
            <a:xfrm>
              <a:off x="3515936" y="3362636"/>
              <a:ext cx="5549413" cy="648086"/>
            </a:xfrm>
            <a:prstGeom prst="rect">
              <a:avLst/>
            </a:prstGeom>
            <a:noFill/>
            <a:ln>
              <a:noFill/>
            </a:ln>
          </p:spPr>
          <p:txBody>
            <a:bodyPr spcFirstLastPara="1" wrap="square" lIns="91425" tIns="45700" rIns="91425" bIns="45700" anchor="t" anchorCtr="0">
              <a:spAutoFit/>
            </a:bodyPr>
            <a:lstStyle/>
            <a:p>
              <a:pPr lvl="0">
                <a:lnSpc>
                  <a:spcPct val="128571"/>
                </a:lnSpc>
              </a:pPr>
              <a:r>
                <a:rPr lang="en-US" b="1" dirty="0">
                  <a:solidFill>
                    <a:srgbClr val="0C0C0C"/>
                  </a:solidFill>
                  <a:latin typeface="Calibri"/>
                  <a:ea typeface="Calibri"/>
                  <a:cs typeface="Calibri"/>
                  <a:sym typeface="Calibri"/>
                </a:rPr>
                <a:t>Excel &amp; Power BI </a:t>
              </a:r>
              <a:r>
                <a:rPr lang="en-US" dirty="0">
                  <a:solidFill>
                    <a:srgbClr val="0C0C0C"/>
                  </a:solidFill>
                  <a:latin typeface="Calibri"/>
                  <a:ea typeface="Calibri"/>
                  <a:cs typeface="Calibri"/>
                  <a:sym typeface="Calibri"/>
                </a:rPr>
                <a:t>to analyze the initial patterns and identify the key performance indicators.</a:t>
              </a:r>
              <a:endParaRPr sz="1400" dirty="0">
                <a:solidFill>
                  <a:srgbClr val="0C0C0C"/>
                </a:solidFill>
                <a:latin typeface="Calibri"/>
                <a:ea typeface="Calibri"/>
                <a:cs typeface="Calibri"/>
                <a:sym typeface="Calibri"/>
              </a:endParaRPr>
            </a:p>
          </p:txBody>
        </p:sp>
        <p:sp>
          <p:nvSpPr>
            <p:cNvPr id="359" name="Google Shape;359;p26"/>
            <p:cNvSpPr txBox="1"/>
            <p:nvPr/>
          </p:nvSpPr>
          <p:spPr>
            <a:xfrm>
              <a:off x="3516384" y="4142851"/>
              <a:ext cx="3930630" cy="370189"/>
            </a:xfrm>
            <a:prstGeom prst="rect">
              <a:avLst/>
            </a:prstGeom>
            <a:noFill/>
            <a:ln>
              <a:noFill/>
            </a:ln>
          </p:spPr>
          <p:txBody>
            <a:bodyPr spcFirstLastPara="1" wrap="square" lIns="91425" tIns="45700" rIns="91425" bIns="45700" anchor="t" anchorCtr="0">
              <a:spAutoFit/>
            </a:bodyPr>
            <a:lstStyle/>
            <a:p>
              <a:pPr lvl="0">
                <a:lnSpc>
                  <a:spcPct val="128571"/>
                </a:lnSpc>
              </a:pPr>
              <a:r>
                <a:rPr lang="en-US" dirty="0">
                  <a:solidFill>
                    <a:srgbClr val="0C0C0C"/>
                  </a:solidFill>
                  <a:latin typeface="Calibri"/>
                  <a:ea typeface="Calibri"/>
                  <a:cs typeface="Calibri"/>
                  <a:sym typeface="Calibri"/>
                </a:rPr>
                <a:t> 4.</a:t>
              </a:r>
              <a:r>
                <a:rPr lang="en-US" b="1" dirty="0">
                  <a:solidFill>
                    <a:srgbClr val="0C0C0C"/>
                  </a:solidFill>
                  <a:latin typeface="Calibri"/>
                  <a:ea typeface="Calibri"/>
                  <a:cs typeface="Calibri"/>
                  <a:sym typeface="Calibri"/>
                </a:rPr>
                <a:t>Power BI Dax </a:t>
              </a:r>
              <a:r>
                <a:rPr lang="en-US" dirty="0">
                  <a:solidFill>
                    <a:srgbClr val="0C0C0C"/>
                  </a:solidFill>
                  <a:latin typeface="Calibri"/>
                  <a:ea typeface="Calibri"/>
                  <a:cs typeface="Calibri"/>
                  <a:sym typeface="Calibri"/>
                </a:rPr>
                <a:t>to make calendar table.</a:t>
              </a:r>
              <a:endParaRPr sz="1400" dirty="0">
                <a:solidFill>
                  <a:srgbClr val="0C0C0C"/>
                </a:solidFill>
                <a:latin typeface="Calibri"/>
                <a:ea typeface="Calibri"/>
                <a:cs typeface="Calibri"/>
                <a:sym typeface="Calibri"/>
              </a:endParaRPr>
            </a:p>
          </p:txBody>
        </p:sp>
        <p:sp>
          <p:nvSpPr>
            <p:cNvPr id="361" name="Google Shape;361;p26"/>
            <p:cNvSpPr txBox="1"/>
            <p:nvPr/>
          </p:nvSpPr>
          <p:spPr>
            <a:xfrm>
              <a:off x="3515938" y="5015358"/>
              <a:ext cx="4283724" cy="370189"/>
            </a:xfrm>
            <a:prstGeom prst="rect">
              <a:avLst/>
            </a:prstGeom>
            <a:noFill/>
            <a:ln>
              <a:noFill/>
            </a:ln>
          </p:spPr>
          <p:txBody>
            <a:bodyPr spcFirstLastPara="1" wrap="square" lIns="91425" tIns="45700" rIns="91425" bIns="45700" anchor="t" anchorCtr="0">
              <a:spAutoFit/>
            </a:bodyPr>
            <a:lstStyle/>
            <a:p>
              <a:pPr lvl="0">
                <a:lnSpc>
                  <a:spcPct val="128571"/>
                </a:lnSpc>
              </a:pPr>
              <a:r>
                <a:rPr lang="en-US" b="1" dirty="0">
                  <a:solidFill>
                    <a:srgbClr val="0C0C0C"/>
                  </a:solidFill>
                  <a:latin typeface="Calibri"/>
                  <a:ea typeface="Calibri"/>
                  <a:cs typeface="Calibri"/>
                  <a:sym typeface="Calibri"/>
                </a:rPr>
                <a:t> 5.Power BI &amp; Tableau </a:t>
              </a:r>
              <a:r>
                <a:rPr lang="en-US" dirty="0">
                  <a:solidFill>
                    <a:srgbClr val="0C0C0C"/>
                  </a:solidFill>
                  <a:latin typeface="Calibri"/>
                  <a:ea typeface="Calibri"/>
                  <a:cs typeface="Calibri"/>
                  <a:sym typeface="Calibri"/>
                </a:rPr>
                <a:t>for visualizing and dashboarding.</a:t>
              </a:r>
              <a:endParaRPr sz="1400" dirty="0">
                <a:solidFill>
                  <a:srgbClr val="0C0C0C"/>
                </a:solidFill>
                <a:latin typeface="Calibri"/>
                <a:ea typeface="Calibri"/>
                <a:cs typeface="Calibri"/>
                <a:sym typeface="Calibri"/>
              </a:endParaRPr>
            </a:p>
          </p:txBody>
        </p:sp>
      </p:grpSp>
      <p:pic>
        <p:nvPicPr>
          <p:cNvPr id="281" name="Google Shape;281;p24" descr="A black background with a black square&#10;&#10;Description automatically generated with medium confidence"/>
          <p:cNvPicPr preferRelativeResize="0"/>
          <p:nvPr/>
        </p:nvPicPr>
        <p:blipFill rotWithShape="1">
          <a:blip r:embed="rId7">
            <a:alphaModFix/>
          </a:blip>
          <a:srcRect/>
          <a:stretch/>
        </p:blipFill>
        <p:spPr>
          <a:xfrm rot="591629">
            <a:off x="7312909" y="5432611"/>
            <a:ext cx="3383027" cy="295563"/>
          </a:xfrm>
          <a:prstGeom prst="rect">
            <a:avLst/>
          </a:prstGeom>
          <a:noFill/>
          <a:ln>
            <a:noFill/>
          </a:ln>
        </p:spPr>
      </p:pic>
      <p:sp>
        <p:nvSpPr>
          <p:cNvPr id="366" name="Google Shape;366;p26"/>
          <p:cNvSpPr txBox="1">
            <a:spLocks noGrp="1"/>
          </p:cNvSpPr>
          <p:nvPr>
            <p:ph type="title"/>
          </p:nvPr>
        </p:nvSpPr>
        <p:spPr>
          <a:xfrm>
            <a:off x="698500" y="555625"/>
            <a:ext cx="2354673"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dirty="0"/>
              <a:t>Tools Used</a:t>
            </a:r>
            <a:endParaRPr dirty="0"/>
          </a:p>
        </p:txBody>
      </p:sp>
      <p:grpSp>
        <p:nvGrpSpPr>
          <p:cNvPr id="282" name="Google Shape;282;p24"/>
          <p:cNvGrpSpPr/>
          <p:nvPr/>
        </p:nvGrpSpPr>
        <p:grpSpPr>
          <a:xfrm>
            <a:off x="10441325" y="2148114"/>
            <a:ext cx="685825" cy="3214201"/>
            <a:chOff x="11059391" y="2420023"/>
            <a:chExt cx="668892" cy="3134840"/>
          </a:xfrm>
        </p:grpSpPr>
        <p:sp>
          <p:nvSpPr>
            <p:cNvPr id="283" name="Google Shape;283;p24"/>
            <p:cNvSpPr/>
            <p:nvPr/>
          </p:nvSpPr>
          <p:spPr>
            <a:xfrm rot="5400000">
              <a:off x="10934570" y="352398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24"/>
            <p:cNvSpPr/>
            <p:nvPr/>
          </p:nvSpPr>
          <p:spPr>
            <a:xfrm rot="5400000">
              <a:off x="11081233" y="504176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24"/>
            <p:cNvSpPr/>
            <p:nvPr/>
          </p:nvSpPr>
          <p:spPr>
            <a:xfrm rot="5400000">
              <a:off x="11081802" y="287111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24"/>
            <p:cNvSpPr/>
            <p:nvPr/>
          </p:nvSpPr>
          <p:spPr>
            <a:xfrm rot="5400000">
              <a:off x="11093113" y="416978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24"/>
            <p:cNvSpPr/>
            <p:nvPr/>
          </p:nvSpPr>
          <p:spPr>
            <a:xfrm rot="5400000">
              <a:off x="11086918" y="241187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24"/>
            <p:cNvSpPr/>
            <p:nvPr/>
          </p:nvSpPr>
          <p:spPr>
            <a:xfrm rot="5400000">
              <a:off x="11219643" y="4563687"/>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Google Shape;117;p18">
            <a:extLst>
              <a:ext uri="{FF2B5EF4-FFF2-40B4-BE49-F238E27FC236}">
                <a16:creationId xmlns:a16="http://schemas.microsoft.com/office/drawing/2014/main" id="{8EE4B0E8-DDAC-4528-3DBC-8DD03F985892}"/>
              </a:ext>
            </a:extLst>
          </p:cNvPr>
          <p:cNvPicPr preferRelativeResize="0"/>
          <p:nvPr/>
        </p:nvPicPr>
        <p:blipFill rotWithShape="1">
          <a:blip r:embed="rId8">
            <a:alphaModFix/>
          </a:blip>
          <a:srcRect/>
          <a:stretch/>
        </p:blipFill>
        <p:spPr>
          <a:xfrm>
            <a:off x="5004622" y="5928851"/>
            <a:ext cx="681451" cy="530047"/>
          </a:xfrm>
          <a:prstGeom prst="rect">
            <a:avLst/>
          </a:prstGeom>
          <a:noFill/>
          <a:ln>
            <a:noFill/>
          </a:ln>
        </p:spPr>
      </p:pic>
      <p:pic>
        <p:nvPicPr>
          <p:cNvPr id="279" name="Google Shape;279;p24"/>
          <p:cNvPicPr preferRelativeResize="0"/>
          <p:nvPr/>
        </p:nvPicPr>
        <p:blipFill rotWithShape="1">
          <a:blip r:embed="rId9">
            <a:alphaModFix/>
          </a:blip>
          <a:srcRect/>
          <a:stretch/>
        </p:blipFill>
        <p:spPr>
          <a:xfrm>
            <a:off x="3953208" y="1206138"/>
            <a:ext cx="7007746" cy="52392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3"/>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p:cNvGrpSpPr/>
          <p:nvPr/>
        </p:nvGrpSpPr>
        <p:grpSpPr>
          <a:xfrm rot="5400000">
            <a:off x="8767364" y="2651939"/>
            <a:ext cx="5619999" cy="1209127"/>
            <a:chOff x="8753449" y="924310"/>
            <a:chExt cx="3134840" cy="668892"/>
          </a:xfrm>
        </p:grpSpPr>
        <p:sp>
          <p:nvSpPr>
            <p:cNvPr id="244" name="Google Shape;244;p23"/>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 name="Title 2">
            <a:extLst>
              <a:ext uri="{FF2B5EF4-FFF2-40B4-BE49-F238E27FC236}">
                <a16:creationId xmlns:a16="http://schemas.microsoft.com/office/drawing/2014/main" id="{93AF134D-0367-A645-9D49-D0496B28844C}"/>
              </a:ext>
            </a:extLst>
          </p:cNvPr>
          <p:cNvSpPr>
            <a:spLocks noGrp="1"/>
          </p:cNvSpPr>
          <p:nvPr>
            <p:ph type="title"/>
          </p:nvPr>
        </p:nvSpPr>
        <p:spPr>
          <a:xfrm>
            <a:off x="714375" y="501650"/>
            <a:ext cx="3464335" cy="511679"/>
          </a:xfrm>
        </p:spPr>
        <p:txBody>
          <a:bodyPr/>
          <a:lstStyle/>
          <a:p>
            <a:r>
              <a:rPr lang="en-IN" dirty="0"/>
              <a:t>Excel Dashboard</a:t>
            </a:r>
          </a:p>
        </p:txBody>
      </p:sp>
      <p:pic>
        <p:nvPicPr>
          <p:cNvPr id="12" name="Google Shape;345;p26">
            <a:extLst>
              <a:ext uri="{FF2B5EF4-FFF2-40B4-BE49-F238E27FC236}">
                <a16:creationId xmlns:a16="http://schemas.microsoft.com/office/drawing/2014/main" id="{6E096DA4-FD11-777A-90AF-DB2294C85BEB}"/>
              </a:ext>
            </a:extLst>
          </p:cNvPr>
          <p:cNvPicPr preferRelativeResize="0"/>
          <p:nvPr/>
        </p:nvPicPr>
        <p:blipFill rotWithShape="1">
          <a:blip r:embed="rId4">
            <a:alphaModFix/>
          </a:blip>
          <a:srcRect/>
          <a:stretch/>
        </p:blipFill>
        <p:spPr>
          <a:xfrm rot="-589488">
            <a:off x="525186" y="631355"/>
            <a:ext cx="202415" cy="158251"/>
          </a:xfrm>
          <a:prstGeom prst="rect">
            <a:avLst/>
          </a:prstGeom>
          <a:noFill/>
          <a:ln>
            <a:noFill/>
          </a:ln>
        </p:spPr>
      </p:pic>
      <p:pic>
        <p:nvPicPr>
          <p:cNvPr id="13" name="Google Shape;346;p26">
            <a:extLst>
              <a:ext uri="{FF2B5EF4-FFF2-40B4-BE49-F238E27FC236}">
                <a16:creationId xmlns:a16="http://schemas.microsoft.com/office/drawing/2014/main" id="{7D5C7F56-46DC-DA52-4E70-72B29AED9A1C}"/>
              </a:ext>
            </a:extLst>
          </p:cNvPr>
          <p:cNvPicPr preferRelativeResize="0"/>
          <p:nvPr/>
        </p:nvPicPr>
        <p:blipFill rotWithShape="1">
          <a:blip r:embed="rId5">
            <a:alphaModFix/>
          </a:blip>
          <a:srcRect/>
          <a:stretch/>
        </p:blipFill>
        <p:spPr>
          <a:xfrm rot="-605715">
            <a:off x="4144265" y="647288"/>
            <a:ext cx="124112" cy="97032"/>
          </a:xfrm>
          <a:prstGeom prst="rect">
            <a:avLst/>
          </a:prstGeom>
          <a:noFill/>
          <a:ln>
            <a:noFill/>
          </a:ln>
        </p:spPr>
      </p:pic>
      <p:pic>
        <p:nvPicPr>
          <p:cNvPr id="15" name="Picture 14">
            <a:extLst>
              <a:ext uri="{FF2B5EF4-FFF2-40B4-BE49-F238E27FC236}">
                <a16:creationId xmlns:a16="http://schemas.microsoft.com/office/drawing/2014/main" id="{CD2FF6B1-80D0-DAD0-EC29-50A74B4A3365}"/>
              </a:ext>
            </a:extLst>
          </p:cNvPr>
          <p:cNvPicPr>
            <a:picLocks noChangeAspect="1"/>
          </p:cNvPicPr>
          <p:nvPr/>
        </p:nvPicPr>
        <p:blipFill>
          <a:blip r:embed="rId6"/>
          <a:srcRect l="1692" t="8971" r="1291" b="8971"/>
          <a:stretch>
            <a:fillRect/>
          </a:stretch>
        </p:blipFill>
        <p:spPr>
          <a:xfrm>
            <a:off x="70057" y="1144390"/>
            <a:ext cx="9229603" cy="4391172"/>
          </a:xfrm>
          <a:prstGeom prst="rect">
            <a:avLst/>
          </a:prstGeom>
        </p:spPr>
      </p:pic>
      <p:pic>
        <p:nvPicPr>
          <p:cNvPr id="16" name="Google Shape;117;p18">
            <a:extLst>
              <a:ext uri="{FF2B5EF4-FFF2-40B4-BE49-F238E27FC236}">
                <a16:creationId xmlns:a16="http://schemas.microsoft.com/office/drawing/2014/main" id="{081700F2-1CCC-7283-91FF-F2E5C4A141A0}"/>
              </a:ext>
            </a:extLst>
          </p:cNvPr>
          <p:cNvPicPr preferRelativeResize="0"/>
          <p:nvPr/>
        </p:nvPicPr>
        <p:blipFill rotWithShape="1">
          <a:blip r:embed="rId7">
            <a:alphaModFix/>
          </a:blip>
          <a:srcRect/>
          <a:stretch/>
        </p:blipFill>
        <p:spPr>
          <a:xfrm>
            <a:off x="5152104" y="5928851"/>
            <a:ext cx="681451" cy="5300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5DF50ED0-FE12-68FD-2F7A-AE86FDE0BEA2}"/>
            </a:ext>
          </a:extLst>
        </p:cNvPr>
        <p:cNvGrpSpPr/>
        <p:nvPr/>
      </p:nvGrpSpPr>
      <p:grpSpPr>
        <a:xfrm>
          <a:off x="0" y="0"/>
          <a:ext cx="0" cy="0"/>
          <a:chOff x="0" y="0"/>
          <a:chExt cx="0" cy="0"/>
        </a:xfrm>
      </p:grpSpPr>
      <p:pic>
        <p:nvPicPr>
          <p:cNvPr id="236" name="Google Shape;236;p23">
            <a:extLst>
              <a:ext uri="{FF2B5EF4-FFF2-40B4-BE49-F238E27FC236}">
                <a16:creationId xmlns:a16="http://schemas.microsoft.com/office/drawing/2014/main" id="{00776777-FD7D-7F00-6B54-C8C2B6561E62}"/>
              </a:ext>
            </a:extLst>
          </p:cNvPr>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a:extLst>
              <a:ext uri="{FF2B5EF4-FFF2-40B4-BE49-F238E27FC236}">
                <a16:creationId xmlns:a16="http://schemas.microsoft.com/office/drawing/2014/main" id="{C3138571-DA0B-DD32-5185-9F72BF76BC50}"/>
              </a:ext>
            </a:extLst>
          </p:cNvPr>
          <p:cNvGrpSpPr/>
          <p:nvPr/>
        </p:nvGrpSpPr>
        <p:grpSpPr>
          <a:xfrm rot="5400000">
            <a:off x="9664586" y="1853039"/>
            <a:ext cx="3919019" cy="909301"/>
            <a:chOff x="8753449" y="924310"/>
            <a:chExt cx="3134840" cy="668892"/>
          </a:xfrm>
        </p:grpSpPr>
        <p:sp>
          <p:nvSpPr>
            <p:cNvPr id="244" name="Google Shape;244;p23">
              <a:extLst>
                <a:ext uri="{FF2B5EF4-FFF2-40B4-BE49-F238E27FC236}">
                  <a16:creationId xmlns:a16="http://schemas.microsoft.com/office/drawing/2014/main" id="{2AAF2AAA-C9B7-EFA5-198F-E69FD266492C}"/>
                </a:ext>
              </a:extLst>
            </p:cNvPr>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a:extLst>
                <a:ext uri="{FF2B5EF4-FFF2-40B4-BE49-F238E27FC236}">
                  <a16:creationId xmlns:a16="http://schemas.microsoft.com/office/drawing/2014/main" id="{0D3A8CC8-D950-8CF7-866C-AAFBD5507A38}"/>
                </a:ext>
              </a:extLst>
            </p:cNvPr>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a:extLst>
                <a:ext uri="{FF2B5EF4-FFF2-40B4-BE49-F238E27FC236}">
                  <a16:creationId xmlns:a16="http://schemas.microsoft.com/office/drawing/2014/main" id="{252B4A68-ABA3-50C0-1443-70376FC24D8E}"/>
                </a:ext>
              </a:extLst>
            </p:cNvPr>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a:extLst>
                <a:ext uri="{FF2B5EF4-FFF2-40B4-BE49-F238E27FC236}">
                  <a16:creationId xmlns:a16="http://schemas.microsoft.com/office/drawing/2014/main" id="{33636863-B064-0D7B-1D50-CEB402F700DE}"/>
                </a:ext>
              </a:extLst>
            </p:cNvPr>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a:extLst>
                <a:ext uri="{FF2B5EF4-FFF2-40B4-BE49-F238E27FC236}">
                  <a16:creationId xmlns:a16="http://schemas.microsoft.com/office/drawing/2014/main" id="{C4961FFA-B977-756C-7F2D-071B4828D448}"/>
                </a:ext>
              </a:extLst>
            </p:cNvPr>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5B8EE3C0-24D0-5E44-2CD9-4E1C5B606886}"/>
                </a:ext>
              </a:extLst>
            </p:cNvPr>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 name="Title 2">
            <a:extLst>
              <a:ext uri="{FF2B5EF4-FFF2-40B4-BE49-F238E27FC236}">
                <a16:creationId xmlns:a16="http://schemas.microsoft.com/office/drawing/2014/main" id="{7872C953-C072-03DF-6867-437C2C24F468}"/>
              </a:ext>
            </a:extLst>
          </p:cNvPr>
          <p:cNvSpPr>
            <a:spLocks noGrp="1"/>
          </p:cNvSpPr>
          <p:nvPr>
            <p:ph type="title"/>
          </p:nvPr>
        </p:nvSpPr>
        <p:spPr>
          <a:xfrm>
            <a:off x="714375" y="501650"/>
            <a:ext cx="3464335" cy="511679"/>
          </a:xfrm>
        </p:spPr>
        <p:txBody>
          <a:bodyPr/>
          <a:lstStyle/>
          <a:p>
            <a:r>
              <a:rPr lang="en-IN" dirty="0"/>
              <a:t>Excel Dashboard</a:t>
            </a:r>
          </a:p>
        </p:txBody>
      </p:sp>
      <p:pic>
        <p:nvPicPr>
          <p:cNvPr id="12" name="Google Shape;345;p26">
            <a:extLst>
              <a:ext uri="{FF2B5EF4-FFF2-40B4-BE49-F238E27FC236}">
                <a16:creationId xmlns:a16="http://schemas.microsoft.com/office/drawing/2014/main" id="{3D7513D3-7B2C-5452-A090-F6396BB2B24F}"/>
              </a:ext>
            </a:extLst>
          </p:cNvPr>
          <p:cNvPicPr preferRelativeResize="0"/>
          <p:nvPr/>
        </p:nvPicPr>
        <p:blipFill rotWithShape="1">
          <a:blip r:embed="rId4">
            <a:alphaModFix/>
          </a:blip>
          <a:srcRect/>
          <a:stretch/>
        </p:blipFill>
        <p:spPr>
          <a:xfrm rot="-589488">
            <a:off x="525186" y="631355"/>
            <a:ext cx="202415" cy="158251"/>
          </a:xfrm>
          <a:prstGeom prst="rect">
            <a:avLst/>
          </a:prstGeom>
          <a:noFill/>
          <a:ln>
            <a:noFill/>
          </a:ln>
        </p:spPr>
      </p:pic>
      <p:pic>
        <p:nvPicPr>
          <p:cNvPr id="13" name="Google Shape;346;p26">
            <a:extLst>
              <a:ext uri="{FF2B5EF4-FFF2-40B4-BE49-F238E27FC236}">
                <a16:creationId xmlns:a16="http://schemas.microsoft.com/office/drawing/2014/main" id="{58E14A60-86ED-A05E-865C-1972808C6198}"/>
              </a:ext>
            </a:extLst>
          </p:cNvPr>
          <p:cNvPicPr preferRelativeResize="0"/>
          <p:nvPr/>
        </p:nvPicPr>
        <p:blipFill rotWithShape="1">
          <a:blip r:embed="rId5">
            <a:alphaModFix/>
          </a:blip>
          <a:srcRect/>
          <a:stretch/>
        </p:blipFill>
        <p:spPr>
          <a:xfrm rot="-605715">
            <a:off x="4144265" y="647288"/>
            <a:ext cx="124112" cy="97032"/>
          </a:xfrm>
          <a:prstGeom prst="rect">
            <a:avLst/>
          </a:prstGeom>
          <a:noFill/>
          <a:ln>
            <a:noFill/>
          </a:ln>
        </p:spPr>
      </p:pic>
      <p:pic>
        <p:nvPicPr>
          <p:cNvPr id="4" name="Picture 3">
            <a:extLst>
              <a:ext uri="{FF2B5EF4-FFF2-40B4-BE49-F238E27FC236}">
                <a16:creationId xmlns:a16="http://schemas.microsoft.com/office/drawing/2014/main" id="{3395B280-9289-E69B-BD52-167D07232431}"/>
              </a:ext>
            </a:extLst>
          </p:cNvPr>
          <p:cNvPicPr>
            <a:picLocks noChangeAspect="1"/>
          </p:cNvPicPr>
          <p:nvPr/>
        </p:nvPicPr>
        <p:blipFill>
          <a:blip r:embed="rId6"/>
          <a:srcRect t="16751" b="8972"/>
          <a:stretch>
            <a:fillRect/>
          </a:stretch>
        </p:blipFill>
        <p:spPr>
          <a:xfrm>
            <a:off x="193341" y="1333723"/>
            <a:ext cx="8999560" cy="3760088"/>
          </a:xfrm>
          <a:prstGeom prst="rect">
            <a:avLst/>
          </a:prstGeom>
        </p:spPr>
      </p:pic>
      <p:sp>
        <p:nvSpPr>
          <p:cNvPr id="7" name="Google Shape;357;p26">
            <a:extLst>
              <a:ext uri="{FF2B5EF4-FFF2-40B4-BE49-F238E27FC236}">
                <a16:creationId xmlns:a16="http://schemas.microsoft.com/office/drawing/2014/main" id="{642E4687-A1BE-3AAC-D607-0F9CB422C406}"/>
              </a:ext>
            </a:extLst>
          </p:cNvPr>
          <p:cNvSpPr txBox="1"/>
          <p:nvPr/>
        </p:nvSpPr>
        <p:spPr>
          <a:xfrm>
            <a:off x="9533268" y="4465641"/>
            <a:ext cx="2465391" cy="886356"/>
          </a:xfrm>
          <a:prstGeom prst="rect">
            <a:avLst/>
          </a:prstGeom>
          <a:noFill/>
          <a:ln>
            <a:noFill/>
          </a:ln>
        </p:spPr>
        <p:txBody>
          <a:bodyPr spcFirstLastPara="1" wrap="square" lIns="91425" tIns="45700" rIns="91425" bIns="45700" anchor="t" anchorCtr="0">
            <a:spAutoFit/>
          </a:bodyPr>
          <a:lstStyle/>
          <a:p>
            <a:pPr lvl="0">
              <a:lnSpc>
                <a:spcPct val="128571"/>
              </a:lnSpc>
            </a:pPr>
            <a:r>
              <a:rPr lang="en-US" sz="2000" b="1" u="sng" dirty="0">
                <a:solidFill>
                  <a:schemeClr val="bg1"/>
                </a:solidFill>
                <a:latin typeface="Calibri"/>
                <a:ea typeface="Calibri"/>
                <a:cs typeface="Calibri"/>
                <a:sym typeface="Calibri"/>
              </a:rPr>
              <a:t>Features:</a:t>
            </a:r>
          </a:p>
          <a:p>
            <a:pPr lvl="0">
              <a:lnSpc>
                <a:spcPct val="128571"/>
              </a:lnSpc>
            </a:pPr>
            <a:r>
              <a:rPr lang="en-US" sz="2000" dirty="0">
                <a:solidFill>
                  <a:schemeClr val="bg1"/>
                </a:solidFill>
                <a:latin typeface="Calibri"/>
                <a:ea typeface="Calibri"/>
                <a:cs typeface="Calibri"/>
                <a:sym typeface="Calibri"/>
              </a:rPr>
              <a:t>3D Map in Excel</a:t>
            </a:r>
          </a:p>
        </p:txBody>
      </p:sp>
      <p:pic>
        <p:nvPicPr>
          <p:cNvPr id="8" name="Google Shape;117;p18">
            <a:extLst>
              <a:ext uri="{FF2B5EF4-FFF2-40B4-BE49-F238E27FC236}">
                <a16:creationId xmlns:a16="http://schemas.microsoft.com/office/drawing/2014/main" id="{7EE465D1-9C18-1987-67D4-7CBFD015D91D}"/>
              </a:ext>
            </a:extLst>
          </p:cNvPr>
          <p:cNvPicPr preferRelativeResize="0"/>
          <p:nvPr/>
        </p:nvPicPr>
        <p:blipFill rotWithShape="1">
          <a:blip r:embed="rId7">
            <a:alphaModFix/>
          </a:blip>
          <a:srcRect/>
          <a:stretch/>
        </p:blipFill>
        <p:spPr>
          <a:xfrm>
            <a:off x="5358582" y="5928851"/>
            <a:ext cx="681451" cy="530047"/>
          </a:xfrm>
          <a:prstGeom prst="rect">
            <a:avLst/>
          </a:prstGeom>
          <a:noFill/>
          <a:ln>
            <a:noFill/>
          </a:ln>
        </p:spPr>
      </p:pic>
    </p:spTree>
    <p:extLst>
      <p:ext uri="{BB962C8B-B14F-4D97-AF65-F5344CB8AC3E}">
        <p14:creationId xmlns:p14="http://schemas.microsoft.com/office/powerpoint/2010/main" val="3734010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8B176916-834C-FFF9-82F5-9BE990145845}"/>
            </a:ext>
          </a:extLst>
        </p:cNvPr>
        <p:cNvGrpSpPr/>
        <p:nvPr/>
      </p:nvGrpSpPr>
      <p:grpSpPr>
        <a:xfrm>
          <a:off x="0" y="0"/>
          <a:ext cx="0" cy="0"/>
          <a:chOff x="0" y="0"/>
          <a:chExt cx="0" cy="0"/>
        </a:xfrm>
      </p:grpSpPr>
      <p:pic>
        <p:nvPicPr>
          <p:cNvPr id="236" name="Google Shape;236;p23">
            <a:extLst>
              <a:ext uri="{FF2B5EF4-FFF2-40B4-BE49-F238E27FC236}">
                <a16:creationId xmlns:a16="http://schemas.microsoft.com/office/drawing/2014/main" id="{2C1AAC5D-B7FA-539F-9E91-CAA85A2C5ECD}"/>
              </a:ext>
            </a:extLst>
          </p:cNvPr>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a:extLst>
              <a:ext uri="{FF2B5EF4-FFF2-40B4-BE49-F238E27FC236}">
                <a16:creationId xmlns:a16="http://schemas.microsoft.com/office/drawing/2014/main" id="{16757D1D-0508-6975-3EB2-6F33D33099EC}"/>
              </a:ext>
            </a:extLst>
          </p:cNvPr>
          <p:cNvGrpSpPr/>
          <p:nvPr/>
        </p:nvGrpSpPr>
        <p:grpSpPr>
          <a:xfrm rot="5400000">
            <a:off x="8850938" y="2696184"/>
            <a:ext cx="5580670" cy="1081309"/>
            <a:chOff x="8753449" y="924310"/>
            <a:chExt cx="3134840" cy="668892"/>
          </a:xfrm>
        </p:grpSpPr>
        <p:sp>
          <p:nvSpPr>
            <p:cNvPr id="244" name="Google Shape;244;p23">
              <a:extLst>
                <a:ext uri="{FF2B5EF4-FFF2-40B4-BE49-F238E27FC236}">
                  <a16:creationId xmlns:a16="http://schemas.microsoft.com/office/drawing/2014/main" id="{BC119193-3AA9-81F1-D0E0-99A775B93092}"/>
                </a:ext>
              </a:extLst>
            </p:cNvPr>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a:extLst>
                <a:ext uri="{FF2B5EF4-FFF2-40B4-BE49-F238E27FC236}">
                  <a16:creationId xmlns:a16="http://schemas.microsoft.com/office/drawing/2014/main" id="{8060E762-4293-A3D0-2FC6-0CB2D458B17B}"/>
                </a:ext>
              </a:extLst>
            </p:cNvPr>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a:extLst>
                <a:ext uri="{FF2B5EF4-FFF2-40B4-BE49-F238E27FC236}">
                  <a16:creationId xmlns:a16="http://schemas.microsoft.com/office/drawing/2014/main" id="{28B308C2-F725-4F8F-1DF3-F8FC33E22A0E}"/>
                </a:ext>
              </a:extLst>
            </p:cNvPr>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a:extLst>
                <a:ext uri="{FF2B5EF4-FFF2-40B4-BE49-F238E27FC236}">
                  <a16:creationId xmlns:a16="http://schemas.microsoft.com/office/drawing/2014/main" id="{446E2EDD-ADBF-59BC-95E7-5E4D4167E563}"/>
                </a:ext>
              </a:extLst>
            </p:cNvPr>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a:extLst>
                <a:ext uri="{FF2B5EF4-FFF2-40B4-BE49-F238E27FC236}">
                  <a16:creationId xmlns:a16="http://schemas.microsoft.com/office/drawing/2014/main" id="{72F0443E-1C97-AC70-45C4-5E5F1F9AFCB1}"/>
                </a:ext>
              </a:extLst>
            </p:cNvPr>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D672B4DB-0744-5DE4-CB04-9121BF7B5B5B}"/>
                </a:ext>
              </a:extLst>
            </p:cNvPr>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2" name="Google Shape;345;p26">
            <a:extLst>
              <a:ext uri="{FF2B5EF4-FFF2-40B4-BE49-F238E27FC236}">
                <a16:creationId xmlns:a16="http://schemas.microsoft.com/office/drawing/2014/main" id="{4247FDE1-9EDD-E253-D3E9-C608E75BB725}"/>
              </a:ext>
            </a:extLst>
          </p:cNvPr>
          <p:cNvPicPr preferRelativeResize="0"/>
          <p:nvPr/>
        </p:nvPicPr>
        <p:blipFill rotWithShape="1">
          <a:blip r:embed="rId4">
            <a:alphaModFix/>
          </a:blip>
          <a:srcRect/>
          <a:stretch/>
        </p:blipFill>
        <p:spPr>
          <a:xfrm rot="-589488">
            <a:off x="502386" y="556691"/>
            <a:ext cx="202415" cy="158251"/>
          </a:xfrm>
          <a:prstGeom prst="rect">
            <a:avLst/>
          </a:prstGeom>
          <a:noFill/>
          <a:ln>
            <a:noFill/>
          </a:ln>
        </p:spPr>
      </p:pic>
      <p:pic>
        <p:nvPicPr>
          <p:cNvPr id="13" name="Google Shape;346;p26">
            <a:extLst>
              <a:ext uri="{FF2B5EF4-FFF2-40B4-BE49-F238E27FC236}">
                <a16:creationId xmlns:a16="http://schemas.microsoft.com/office/drawing/2014/main" id="{8A3B90D6-3D28-4B36-6520-7C2268C03431}"/>
              </a:ext>
            </a:extLst>
          </p:cNvPr>
          <p:cNvPicPr preferRelativeResize="0"/>
          <p:nvPr/>
        </p:nvPicPr>
        <p:blipFill rotWithShape="1">
          <a:blip r:embed="rId5">
            <a:alphaModFix/>
          </a:blip>
          <a:srcRect/>
          <a:stretch/>
        </p:blipFill>
        <p:spPr>
          <a:xfrm rot="-605715">
            <a:off x="4694872" y="645944"/>
            <a:ext cx="124112" cy="97032"/>
          </a:xfrm>
          <a:prstGeom prst="rect">
            <a:avLst/>
          </a:prstGeom>
          <a:noFill/>
          <a:ln>
            <a:noFill/>
          </a:ln>
        </p:spPr>
      </p:pic>
      <p:pic>
        <p:nvPicPr>
          <p:cNvPr id="11" name="Picture 10">
            <a:extLst>
              <a:ext uri="{FF2B5EF4-FFF2-40B4-BE49-F238E27FC236}">
                <a16:creationId xmlns:a16="http://schemas.microsoft.com/office/drawing/2014/main" id="{AFF4B867-4697-5CFF-25D1-431337E702F3}"/>
              </a:ext>
            </a:extLst>
          </p:cNvPr>
          <p:cNvPicPr>
            <a:picLocks noChangeAspect="1"/>
          </p:cNvPicPr>
          <p:nvPr/>
        </p:nvPicPr>
        <p:blipFill>
          <a:blip r:embed="rId6"/>
          <a:srcRect l="6391" t="12917" r="19435" b="12975"/>
          <a:stretch>
            <a:fillRect/>
          </a:stretch>
        </p:blipFill>
        <p:spPr>
          <a:xfrm>
            <a:off x="502182" y="1022580"/>
            <a:ext cx="8694955" cy="4886607"/>
          </a:xfrm>
          <a:prstGeom prst="rect">
            <a:avLst/>
          </a:prstGeom>
        </p:spPr>
      </p:pic>
      <p:sp>
        <p:nvSpPr>
          <p:cNvPr id="4" name="Google Shape;311;p24">
            <a:extLst>
              <a:ext uri="{FF2B5EF4-FFF2-40B4-BE49-F238E27FC236}">
                <a16:creationId xmlns:a16="http://schemas.microsoft.com/office/drawing/2014/main" id="{2E1B2B13-2086-CEBE-9DF4-9339887C69F8}"/>
              </a:ext>
            </a:extLst>
          </p:cNvPr>
          <p:cNvSpPr txBox="1">
            <a:spLocks/>
          </p:cNvSpPr>
          <p:nvPr/>
        </p:nvSpPr>
        <p:spPr>
          <a:xfrm>
            <a:off x="626393" y="454640"/>
            <a:ext cx="4281300" cy="51167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Power BI Dashboard</a:t>
            </a:r>
          </a:p>
        </p:txBody>
      </p:sp>
      <p:pic>
        <p:nvPicPr>
          <p:cNvPr id="7" name="Google Shape;117;p18">
            <a:extLst>
              <a:ext uri="{FF2B5EF4-FFF2-40B4-BE49-F238E27FC236}">
                <a16:creationId xmlns:a16="http://schemas.microsoft.com/office/drawing/2014/main" id="{2B232029-58CE-1A61-8CB4-8E81ED55B844}"/>
              </a:ext>
            </a:extLst>
          </p:cNvPr>
          <p:cNvPicPr preferRelativeResize="0"/>
          <p:nvPr/>
        </p:nvPicPr>
        <p:blipFill rotWithShape="1">
          <a:blip r:embed="rId7">
            <a:alphaModFix/>
          </a:blip>
          <a:srcRect/>
          <a:stretch/>
        </p:blipFill>
        <p:spPr>
          <a:xfrm>
            <a:off x="5810868" y="5928851"/>
            <a:ext cx="681451" cy="530047"/>
          </a:xfrm>
          <a:prstGeom prst="rect">
            <a:avLst/>
          </a:prstGeom>
          <a:noFill/>
          <a:ln>
            <a:noFill/>
          </a:ln>
        </p:spPr>
      </p:pic>
    </p:spTree>
    <p:extLst>
      <p:ext uri="{BB962C8B-B14F-4D97-AF65-F5344CB8AC3E}">
        <p14:creationId xmlns:p14="http://schemas.microsoft.com/office/powerpoint/2010/main" val="1703521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C01DA372-3C3C-6DAC-D205-862E6559C2E5}"/>
            </a:ext>
          </a:extLst>
        </p:cNvPr>
        <p:cNvGrpSpPr/>
        <p:nvPr/>
      </p:nvGrpSpPr>
      <p:grpSpPr>
        <a:xfrm>
          <a:off x="0" y="0"/>
          <a:ext cx="0" cy="0"/>
          <a:chOff x="0" y="0"/>
          <a:chExt cx="0" cy="0"/>
        </a:xfrm>
      </p:grpSpPr>
      <p:pic>
        <p:nvPicPr>
          <p:cNvPr id="236" name="Google Shape;236;p23">
            <a:extLst>
              <a:ext uri="{FF2B5EF4-FFF2-40B4-BE49-F238E27FC236}">
                <a16:creationId xmlns:a16="http://schemas.microsoft.com/office/drawing/2014/main" id="{B9C070E3-A153-087D-4D8E-64C428EF93A3}"/>
              </a:ext>
            </a:extLst>
          </p:cNvPr>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a:extLst>
              <a:ext uri="{FF2B5EF4-FFF2-40B4-BE49-F238E27FC236}">
                <a16:creationId xmlns:a16="http://schemas.microsoft.com/office/drawing/2014/main" id="{2B52E6B5-5455-39BE-3BE9-FC6996096F19}"/>
              </a:ext>
            </a:extLst>
          </p:cNvPr>
          <p:cNvGrpSpPr/>
          <p:nvPr/>
        </p:nvGrpSpPr>
        <p:grpSpPr>
          <a:xfrm rot="5400000">
            <a:off x="9728432" y="1740034"/>
            <a:ext cx="3742038" cy="820682"/>
            <a:chOff x="8753449" y="924310"/>
            <a:chExt cx="3134840" cy="668892"/>
          </a:xfrm>
        </p:grpSpPr>
        <p:sp>
          <p:nvSpPr>
            <p:cNvPr id="244" name="Google Shape;244;p23">
              <a:extLst>
                <a:ext uri="{FF2B5EF4-FFF2-40B4-BE49-F238E27FC236}">
                  <a16:creationId xmlns:a16="http://schemas.microsoft.com/office/drawing/2014/main" id="{1FC3CC31-8823-9982-CE5A-54ADB93BBBEF}"/>
                </a:ext>
              </a:extLst>
            </p:cNvPr>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a:extLst>
                <a:ext uri="{FF2B5EF4-FFF2-40B4-BE49-F238E27FC236}">
                  <a16:creationId xmlns:a16="http://schemas.microsoft.com/office/drawing/2014/main" id="{BF545C3D-B545-7110-4170-1511706F1A0F}"/>
                </a:ext>
              </a:extLst>
            </p:cNvPr>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a:extLst>
                <a:ext uri="{FF2B5EF4-FFF2-40B4-BE49-F238E27FC236}">
                  <a16:creationId xmlns:a16="http://schemas.microsoft.com/office/drawing/2014/main" id="{E6CD9D53-ED3F-5381-3635-7B55E06661E8}"/>
                </a:ext>
              </a:extLst>
            </p:cNvPr>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a:extLst>
                <a:ext uri="{FF2B5EF4-FFF2-40B4-BE49-F238E27FC236}">
                  <a16:creationId xmlns:a16="http://schemas.microsoft.com/office/drawing/2014/main" id="{2362799E-EFD0-43B6-C83E-D031FFC4409E}"/>
                </a:ext>
              </a:extLst>
            </p:cNvPr>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a:extLst>
                <a:ext uri="{FF2B5EF4-FFF2-40B4-BE49-F238E27FC236}">
                  <a16:creationId xmlns:a16="http://schemas.microsoft.com/office/drawing/2014/main" id="{FD8A1786-2D51-85E8-0840-2E9AFA36ABDC}"/>
                </a:ext>
              </a:extLst>
            </p:cNvPr>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D9899B98-A3A1-F2A8-B7D3-1D359609F2C2}"/>
                </a:ext>
              </a:extLst>
            </p:cNvPr>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2" name="Google Shape;345;p26">
            <a:extLst>
              <a:ext uri="{FF2B5EF4-FFF2-40B4-BE49-F238E27FC236}">
                <a16:creationId xmlns:a16="http://schemas.microsoft.com/office/drawing/2014/main" id="{3D7928EF-0F30-68F2-4C6E-A30926A020B6}"/>
              </a:ext>
            </a:extLst>
          </p:cNvPr>
          <p:cNvPicPr preferRelativeResize="0"/>
          <p:nvPr/>
        </p:nvPicPr>
        <p:blipFill rotWithShape="1">
          <a:blip r:embed="rId4">
            <a:alphaModFix/>
          </a:blip>
          <a:srcRect/>
          <a:stretch/>
        </p:blipFill>
        <p:spPr>
          <a:xfrm rot="-589488">
            <a:off x="502386" y="556691"/>
            <a:ext cx="202415" cy="158251"/>
          </a:xfrm>
          <a:prstGeom prst="rect">
            <a:avLst/>
          </a:prstGeom>
          <a:noFill/>
          <a:ln>
            <a:noFill/>
          </a:ln>
        </p:spPr>
      </p:pic>
      <p:pic>
        <p:nvPicPr>
          <p:cNvPr id="13" name="Google Shape;346;p26">
            <a:extLst>
              <a:ext uri="{FF2B5EF4-FFF2-40B4-BE49-F238E27FC236}">
                <a16:creationId xmlns:a16="http://schemas.microsoft.com/office/drawing/2014/main" id="{DABC60B0-B341-27D7-6643-27ABA32ADC4A}"/>
              </a:ext>
            </a:extLst>
          </p:cNvPr>
          <p:cNvPicPr preferRelativeResize="0"/>
          <p:nvPr/>
        </p:nvPicPr>
        <p:blipFill rotWithShape="1">
          <a:blip r:embed="rId5">
            <a:alphaModFix/>
          </a:blip>
          <a:srcRect/>
          <a:stretch/>
        </p:blipFill>
        <p:spPr>
          <a:xfrm rot="-605715">
            <a:off x="4694872" y="645944"/>
            <a:ext cx="124112" cy="97032"/>
          </a:xfrm>
          <a:prstGeom prst="rect">
            <a:avLst/>
          </a:prstGeom>
          <a:noFill/>
          <a:ln>
            <a:noFill/>
          </a:ln>
        </p:spPr>
      </p:pic>
      <p:sp>
        <p:nvSpPr>
          <p:cNvPr id="4" name="Google Shape;311;p24">
            <a:extLst>
              <a:ext uri="{FF2B5EF4-FFF2-40B4-BE49-F238E27FC236}">
                <a16:creationId xmlns:a16="http://schemas.microsoft.com/office/drawing/2014/main" id="{E6333FDD-CB9C-633D-8510-DEECA7A9444E}"/>
              </a:ext>
            </a:extLst>
          </p:cNvPr>
          <p:cNvSpPr txBox="1">
            <a:spLocks/>
          </p:cNvSpPr>
          <p:nvPr/>
        </p:nvSpPr>
        <p:spPr>
          <a:xfrm>
            <a:off x="626393" y="454640"/>
            <a:ext cx="4281300" cy="51167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Power BI Dashboard</a:t>
            </a:r>
          </a:p>
        </p:txBody>
      </p:sp>
      <p:pic>
        <p:nvPicPr>
          <p:cNvPr id="3" name="Picture 2">
            <a:extLst>
              <a:ext uri="{FF2B5EF4-FFF2-40B4-BE49-F238E27FC236}">
                <a16:creationId xmlns:a16="http://schemas.microsoft.com/office/drawing/2014/main" id="{CBB408F3-0A4F-B171-1ED5-93C247220CD4}"/>
              </a:ext>
            </a:extLst>
          </p:cNvPr>
          <p:cNvPicPr>
            <a:picLocks noChangeAspect="1"/>
          </p:cNvPicPr>
          <p:nvPr/>
        </p:nvPicPr>
        <p:blipFill>
          <a:blip r:embed="rId6"/>
          <a:srcRect l="3306" r="17097" b="12402"/>
          <a:stretch>
            <a:fillRect/>
          </a:stretch>
        </p:blipFill>
        <p:spPr>
          <a:xfrm>
            <a:off x="625832" y="934280"/>
            <a:ext cx="8439107" cy="5224210"/>
          </a:xfrm>
          <a:prstGeom prst="rect">
            <a:avLst/>
          </a:prstGeom>
        </p:spPr>
      </p:pic>
      <p:sp>
        <p:nvSpPr>
          <p:cNvPr id="5" name="Google Shape;357;p26">
            <a:extLst>
              <a:ext uri="{FF2B5EF4-FFF2-40B4-BE49-F238E27FC236}">
                <a16:creationId xmlns:a16="http://schemas.microsoft.com/office/drawing/2014/main" id="{44C3D66E-35A4-98B5-82A6-E72BCA3677E3}"/>
              </a:ext>
            </a:extLst>
          </p:cNvPr>
          <p:cNvSpPr txBox="1"/>
          <p:nvPr/>
        </p:nvSpPr>
        <p:spPr>
          <a:xfrm>
            <a:off x="9544401" y="4188689"/>
            <a:ext cx="2465391" cy="1283388"/>
          </a:xfrm>
          <a:prstGeom prst="rect">
            <a:avLst/>
          </a:prstGeom>
          <a:noFill/>
          <a:ln>
            <a:noFill/>
          </a:ln>
        </p:spPr>
        <p:txBody>
          <a:bodyPr spcFirstLastPara="1" wrap="square" lIns="91425" tIns="45700" rIns="91425" bIns="45700" anchor="t" anchorCtr="0">
            <a:spAutoFit/>
          </a:bodyPr>
          <a:lstStyle/>
          <a:p>
            <a:pPr lvl="0">
              <a:lnSpc>
                <a:spcPct val="128571"/>
              </a:lnSpc>
            </a:pPr>
            <a:r>
              <a:rPr lang="en-US" sz="2000" b="1" u="sng" dirty="0">
                <a:solidFill>
                  <a:schemeClr val="bg1"/>
                </a:solidFill>
                <a:latin typeface="Calibri"/>
                <a:ea typeface="Calibri"/>
                <a:cs typeface="Calibri"/>
                <a:sym typeface="Calibri"/>
              </a:rPr>
              <a:t>Features:</a:t>
            </a:r>
          </a:p>
          <a:p>
            <a:pPr lvl="0">
              <a:lnSpc>
                <a:spcPct val="128571"/>
              </a:lnSpc>
            </a:pPr>
            <a:r>
              <a:rPr lang="en-US" sz="2000" dirty="0">
                <a:solidFill>
                  <a:schemeClr val="bg1"/>
                </a:solidFill>
                <a:latin typeface="Calibri"/>
                <a:ea typeface="Calibri"/>
                <a:cs typeface="Calibri"/>
                <a:sym typeface="Calibri"/>
              </a:rPr>
              <a:t>Map</a:t>
            </a:r>
          </a:p>
          <a:p>
            <a:pPr lvl="0">
              <a:lnSpc>
                <a:spcPct val="128571"/>
              </a:lnSpc>
            </a:pPr>
            <a:r>
              <a:rPr lang="en-US" sz="2000" dirty="0">
                <a:solidFill>
                  <a:schemeClr val="bg1"/>
                </a:solidFill>
                <a:latin typeface="Calibri"/>
                <a:ea typeface="Calibri"/>
                <a:cs typeface="Calibri"/>
                <a:sym typeface="Calibri"/>
              </a:rPr>
              <a:t>Advance Tooltip</a:t>
            </a:r>
            <a:endParaRPr sz="2000"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1850431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7AA00B7-0185-0C34-177D-4B97443F33C5}"/>
            </a:ext>
          </a:extLst>
        </p:cNvPr>
        <p:cNvGrpSpPr/>
        <p:nvPr/>
      </p:nvGrpSpPr>
      <p:grpSpPr>
        <a:xfrm>
          <a:off x="0" y="0"/>
          <a:ext cx="0" cy="0"/>
          <a:chOff x="0" y="0"/>
          <a:chExt cx="0" cy="0"/>
        </a:xfrm>
      </p:grpSpPr>
      <p:pic>
        <p:nvPicPr>
          <p:cNvPr id="236" name="Google Shape;236;p23">
            <a:extLst>
              <a:ext uri="{FF2B5EF4-FFF2-40B4-BE49-F238E27FC236}">
                <a16:creationId xmlns:a16="http://schemas.microsoft.com/office/drawing/2014/main" id="{FE099A36-A9B5-39A5-81A4-4E5C5DF129E3}"/>
              </a:ext>
            </a:extLst>
          </p:cNvPr>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a:extLst>
              <a:ext uri="{FF2B5EF4-FFF2-40B4-BE49-F238E27FC236}">
                <a16:creationId xmlns:a16="http://schemas.microsoft.com/office/drawing/2014/main" id="{F9B1D8B5-639B-6069-7B2E-1CD252ACF356}"/>
              </a:ext>
            </a:extLst>
          </p:cNvPr>
          <p:cNvGrpSpPr/>
          <p:nvPr/>
        </p:nvGrpSpPr>
        <p:grpSpPr>
          <a:xfrm rot="5400000">
            <a:off x="8990720" y="2850785"/>
            <a:ext cx="5138804" cy="899341"/>
            <a:chOff x="8753449" y="924310"/>
            <a:chExt cx="3134840" cy="668892"/>
          </a:xfrm>
        </p:grpSpPr>
        <p:sp>
          <p:nvSpPr>
            <p:cNvPr id="244" name="Google Shape;244;p23">
              <a:extLst>
                <a:ext uri="{FF2B5EF4-FFF2-40B4-BE49-F238E27FC236}">
                  <a16:creationId xmlns:a16="http://schemas.microsoft.com/office/drawing/2014/main" id="{25B5B339-392F-2E86-BAA4-64A7440E2B7B}"/>
                </a:ext>
              </a:extLst>
            </p:cNvPr>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a:extLst>
                <a:ext uri="{FF2B5EF4-FFF2-40B4-BE49-F238E27FC236}">
                  <a16:creationId xmlns:a16="http://schemas.microsoft.com/office/drawing/2014/main" id="{9ECD9914-57DD-4D2D-9F4C-0E176D56AE2A}"/>
                </a:ext>
              </a:extLst>
            </p:cNvPr>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a:extLst>
                <a:ext uri="{FF2B5EF4-FFF2-40B4-BE49-F238E27FC236}">
                  <a16:creationId xmlns:a16="http://schemas.microsoft.com/office/drawing/2014/main" id="{8E6F44AC-DFB4-DECC-A245-19CD003BC679}"/>
                </a:ext>
              </a:extLst>
            </p:cNvPr>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a:extLst>
                <a:ext uri="{FF2B5EF4-FFF2-40B4-BE49-F238E27FC236}">
                  <a16:creationId xmlns:a16="http://schemas.microsoft.com/office/drawing/2014/main" id="{80443C0B-783D-629D-FB47-DE01D959AF00}"/>
                </a:ext>
              </a:extLst>
            </p:cNvPr>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a:extLst>
                <a:ext uri="{FF2B5EF4-FFF2-40B4-BE49-F238E27FC236}">
                  <a16:creationId xmlns:a16="http://schemas.microsoft.com/office/drawing/2014/main" id="{D0655D10-97DE-976D-D515-AB51CF95219A}"/>
                </a:ext>
              </a:extLst>
            </p:cNvPr>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32B73E95-7BB8-A32C-6E54-25935115C091}"/>
                </a:ext>
              </a:extLst>
            </p:cNvPr>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2" name="Google Shape;345;p26">
            <a:extLst>
              <a:ext uri="{FF2B5EF4-FFF2-40B4-BE49-F238E27FC236}">
                <a16:creationId xmlns:a16="http://schemas.microsoft.com/office/drawing/2014/main" id="{59038D9C-58AF-B365-D93D-1D14B55FEC3C}"/>
              </a:ext>
            </a:extLst>
          </p:cNvPr>
          <p:cNvPicPr preferRelativeResize="0"/>
          <p:nvPr/>
        </p:nvPicPr>
        <p:blipFill rotWithShape="1">
          <a:blip r:embed="rId4">
            <a:alphaModFix/>
          </a:blip>
          <a:srcRect/>
          <a:stretch/>
        </p:blipFill>
        <p:spPr>
          <a:xfrm rot="-589488">
            <a:off x="502386" y="556691"/>
            <a:ext cx="202415" cy="158251"/>
          </a:xfrm>
          <a:prstGeom prst="rect">
            <a:avLst/>
          </a:prstGeom>
          <a:noFill/>
          <a:ln>
            <a:noFill/>
          </a:ln>
        </p:spPr>
      </p:pic>
      <p:pic>
        <p:nvPicPr>
          <p:cNvPr id="13" name="Google Shape;346;p26">
            <a:extLst>
              <a:ext uri="{FF2B5EF4-FFF2-40B4-BE49-F238E27FC236}">
                <a16:creationId xmlns:a16="http://schemas.microsoft.com/office/drawing/2014/main" id="{4255382E-48A7-4578-F50F-1D053DF35906}"/>
              </a:ext>
            </a:extLst>
          </p:cNvPr>
          <p:cNvPicPr preferRelativeResize="0"/>
          <p:nvPr/>
        </p:nvPicPr>
        <p:blipFill rotWithShape="1">
          <a:blip r:embed="rId5">
            <a:alphaModFix/>
          </a:blip>
          <a:srcRect/>
          <a:stretch/>
        </p:blipFill>
        <p:spPr>
          <a:xfrm rot="-605715">
            <a:off x="4655544" y="636112"/>
            <a:ext cx="124112" cy="97032"/>
          </a:xfrm>
          <a:prstGeom prst="rect">
            <a:avLst/>
          </a:prstGeom>
          <a:noFill/>
          <a:ln>
            <a:noFill/>
          </a:ln>
        </p:spPr>
      </p:pic>
      <p:sp>
        <p:nvSpPr>
          <p:cNvPr id="4" name="Google Shape;311;p24">
            <a:extLst>
              <a:ext uri="{FF2B5EF4-FFF2-40B4-BE49-F238E27FC236}">
                <a16:creationId xmlns:a16="http://schemas.microsoft.com/office/drawing/2014/main" id="{7E664EC6-7BF9-AB88-C112-767FCA797602}"/>
              </a:ext>
            </a:extLst>
          </p:cNvPr>
          <p:cNvSpPr txBox="1">
            <a:spLocks/>
          </p:cNvSpPr>
          <p:nvPr/>
        </p:nvSpPr>
        <p:spPr>
          <a:xfrm>
            <a:off x="626393" y="454640"/>
            <a:ext cx="4060935" cy="51167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Tableau Dashboard</a:t>
            </a:r>
          </a:p>
        </p:txBody>
      </p:sp>
      <p:pic>
        <p:nvPicPr>
          <p:cNvPr id="6" name="Picture 5">
            <a:extLst>
              <a:ext uri="{FF2B5EF4-FFF2-40B4-BE49-F238E27FC236}">
                <a16:creationId xmlns:a16="http://schemas.microsoft.com/office/drawing/2014/main" id="{F8C1BDB4-7366-0650-2354-8756C797DFC3}"/>
              </a:ext>
            </a:extLst>
          </p:cNvPr>
          <p:cNvPicPr>
            <a:picLocks noChangeAspect="1"/>
          </p:cNvPicPr>
          <p:nvPr/>
        </p:nvPicPr>
        <p:blipFill>
          <a:blip r:embed="rId6"/>
          <a:srcRect t="10642"/>
          <a:stretch>
            <a:fillRect/>
          </a:stretch>
        </p:blipFill>
        <p:spPr>
          <a:xfrm>
            <a:off x="305627" y="1052260"/>
            <a:ext cx="8997799" cy="4522630"/>
          </a:xfrm>
          <a:prstGeom prst="rect">
            <a:avLst/>
          </a:prstGeom>
        </p:spPr>
      </p:pic>
      <p:pic>
        <p:nvPicPr>
          <p:cNvPr id="11" name="Google Shape;117;p18">
            <a:extLst>
              <a:ext uri="{FF2B5EF4-FFF2-40B4-BE49-F238E27FC236}">
                <a16:creationId xmlns:a16="http://schemas.microsoft.com/office/drawing/2014/main" id="{8F26F2E4-C18C-B45A-24F7-6428E8EAB1E5}"/>
              </a:ext>
            </a:extLst>
          </p:cNvPr>
          <p:cNvPicPr preferRelativeResize="0"/>
          <p:nvPr/>
        </p:nvPicPr>
        <p:blipFill rotWithShape="1">
          <a:blip r:embed="rId7">
            <a:alphaModFix/>
          </a:blip>
          <a:srcRect/>
          <a:stretch/>
        </p:blipFill>
        <p:spPr>
          <a:xfrm>
            <a:off x="6233657" y="5928851"/>
            <a:ext cx="681451" cy="530047"/>
          </a:xfrm>
          <a:prstGeom prst="rect">
            <a:avLst/>
          </a:prstGeom>
          <a:noFill/>
          <a:ln>
            <a:noFill/>
          </a:ln>
        </p:spPr>
      </p:pic>
    </p:spTree>
    <p:extLst>
      <p:ext uri="{BB962C8B-B14F-4D97-AF65-F5344CB8AC3E}">
        <p14:creationId xmlns:p14="http://schemas.microsoft.com/office/powerpoint/2010/main" val="3296981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DACBA286-D627-DEDF-295F-EA47316DE47F}"/>
            </a:ext>
          </a:extLst>
        </p:cNvPr>
        <p:cNvGrpSpPr/>
        <p:nvPr/>
      </p:nvGrpSpPr>
      <p:grpSpPr>
        <a:xfrm>
          <a:off x="0" y="0"/>
          <a:ext cx="0" cy="0"/>
          <a:chOff x="0" y="0"/>
          <a:chExt cx="0" cy="0"/>
        </a:xfrm>
      </p:grpSpPr>
      <p:pic>
        <p:nvPicPr>
          <p:cNvPr id="236" name="Google Shape;236;p23">
            <a:extLst>
              <a:ext uri="{FF2B5EF4-FFF2-40B4-BE49-F238E27FC236}">
                <a16:creationId xmlns:a16="http://schemas.microsoft.com/office/drawing/2014/main" id="{F066CC72-6B0C-663E-39EE-F64F2C716EE2}"/>
              </a:ext>
            </a:extLst>
          </p:cNvPr>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a:extLst>
              <a:ext uri="{FF2B5EF4-FFF2-40B4-BE49-F238E27FC236}">
                <a16:creationId xmlns:a16="http://schemas.microsoft.com/office/drawing/2014/main" id="{A65A94A4-6277-F1F7-B4D7-3DAAF369678D}"/>
              </a:ext>
            </a:extLst>
          </p:cNvPr>
          <p:cNvGrpSpPr/>
          <p:nvPr/>
        </p:nvGrpSpPr>
        <p:grpSpPr>
          <a:xfrm rot="5400000">
            <a:off x="8664245" y="2715729"/>
            <a:ext cx="5964128" cy="1091381"/>
            <a:chOff x="8753449" y="924310"/>
            <a:chExt cx="3134840" cy="668892"/>
          </a:xfrm>
        </p:grpSpPr>
        <p:sp>
          <p:nvSpPr>
            <p:cNvPr id="244" name="Google Shape;244;p23">
              <a:extLst>
                <a:ext uri="{FF2B5EF4-FFF2-40B4-BE49-F238E27FC236}">
                  <a16:creationId xmlns:a16="http://schemas.microsoft.com/office/drawing/2014/main" id="{9D18E6C5-DC3D-8FDA-C089-E6E1A93AB7C3}"/>
                </a:ext>
              </a:extLst>
            </p:cNvPr>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a:extLst>
                <a:ext uri="{FF2B5EF4-FFF2-40B4-BE49-F238E27FC236}">
                  <a16:creationId xmlns:a16="http://schemas.microsoft.com/office/drawing/2014/main" id="{6081E79F-41DD-C1F7-F0CF-8CE68E0C2F56}"/>
                </a:ext>
              </a:extLst>
            </p:cNvPr>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a:extLst>
                <a:ext uri="{FF2B5EF4-FFF2-40B4-BE49-F238E27FC236}">
                  <a16:creationId xmlns:a16="http://schemas.microsoft.com/office/drawing/2014/main" id="{91CF4F1B-AEB7-9DD4-F222-76ED4F9ECEA8}"/>
                </a:ext>
              </a:extLst>
            </p:cNvPr>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a:extLst>
                <a:ext uri="{FF2B5EF4-FFF2-40B4-BE49-F238E27FC236}">
                  <a16:creationId xmlns:a16="http://schemas.microsoft.com/office/drawing/2014/main" id="{6E9F693F-3FAC-2EE3-868B-BB8345C35F73}"/>
                </a:ext>
              </a:extLst>
            </p:cNvPr>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a:extLst>
                <a:ext uri="{FF2B5EF4-FFF2-40B4-BE49-F238E27FC236}">
                  <a16:creationId xmlns:a16="http://schemas.microsoft.com/office/drawing/2014/main" id="{4A835535-5B5E-0341-E2F9-17F442A6A8BD}"/>
                </a:ext>
              </a:extLst>
            </p:cNvPr>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12ECDF77-BA22-354B-62AF-0E6E4B76A3A8}"/>
                </a:ext>
              </a:extLst>
            </p:cNvPr>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2" name="Google Shape;345;p26">
            <a:extLst>
              <a:ext uri="{FF2B5EF4-FFF2-40B4-BE49-F238E27FC236}">
                <a16:creationId xmlns:a16="http://schemas.microsoft.com/office/drawing/2014/main" id="{80438F80-43BD-7B18-8E08-3F047790EC3E}"/>
              </a:ext>
            </a:extLst>
          </p:cNvPr>
          <p:cNvPicPr preferRelativeResize="0"/>
          <p:nvPr/>
        </p:nvPicPr>
        <p:blipFill rotWithShape="1">
          <a:blip r:embed="rId4">
            <a:alphaModFix/>
          </a:blip>
          <a:srcRect/>
          <a:stretch/>
        </p:blipFill>
        <p:spPr>
          <a:xfrm rot="-589488">
            <a:off x="502386" y="556691"/>
            <a:ext cx="202415" cy="158251"/>
          </a:xfrm>
          <a:prstGeom prst="rect">
            <a:avLst/>
          </a:prstGeom>
          <a:noFill/>
          <a:ln>
            <a:noFill/>
          </a:ln>
        </p:spPr>
      </p:pic>
      <p:pic>
        <p:nvPicPr>
          <p:cNvPr id="13" name="Google Shape;346;p26">
            <a:extLst>
              <a:ext uri="{FF2B5EF4-FFF2-40B4-BE49-F238E27FC236}">
                <a16:creationId xmlns:a16="http://schemas.microsoft.com/office/drawing/2014/main" id="{9284A33A-57BB-6036-6282-EFE6354313F6}"/>
              </a:ext>
            </a:extLst>
          </p:cNvPr>
          <p:cNvPicPr preferRelativeResize="0"/>
          <p:nvPr/>
        </p:nvPicPr>
        <p:blipFill rotWithShape="1">
          <a:blip r:embed="rId5">
            <a:alphaModFix/>
          </a:blip>
          <a:srcRect/>
          <a:stretch/>
        </p:blipFill>
        <p:spPr>
          <a:xfrm rot="-605715">
            <a:off x="4655544" y="636112"/>
            <a:ext cx="124112" cy="97032"/>
          </a:xfrm>
          <a:prstGeom prst="rect">
            <a:avLst/>
          </a:prstGeom>
          <a:noFill/>
          <a:ln>
            <a:noFill/>
          </a:ln>
        </p:spPr>
      </p:pic>
      <p:sp>
        <p:nvSpPr>
          <p:cNvPr id="4" name="Google Shape;311;p24">
            <a:extLst>
              <a:ext uri="{FF2B5EF4-FFF2-40B4-BE49-F238E27FC236}">
                <a16:creationId xmlns:a16="http://schemas.microsoft.com/office/drawing/2014/main" id="{D37A969E-41E2-684B-849D-FE0B37825DF9}"/>
              </a:ext>
            </a:extLst>
          </p:cNvPr>
          <p:cNvSpPr txBox="1">
            <a:spLocks/>
          </p:cNvSpPr>
          <p:nvPr/>
        </p:nvSpPr>
        <p:spPr>
          <a:xfrm>
            <a:off x="626393" y="454640"/>
            <a:ext cx="4060935" cy="51167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Tableau Dashboard</a:t>
            </a:r>
          </a:p>
        </p:txBody>
      </p:sp>
      <p:pic>
        <p:nvPicPr>
          <p:cNvPr id="8" name="Picture 7">
            <a:extLst>
              <a:ext uri="{FF2B5EF4-FFF2-40B4-BE49-F238E27FC236}">
                <a16:creationId xmlns:a16="http://schemas.microsoft.com/office/drawing/2014/main" id="{73266C50-8B3F-C075-2ED3-A41209CE339D}"/>
              </a:ext>
            </a:extLst>
          </p:cNvPr>
          <p:cNvPicPr>
            <a:picLocks noChangeAspect="1"/>
          </p:cNvPicPr>
          <p:nvPr/>
        </p:nvPicPr>
        <p:blipFill>
          <a:blip r:embed="rId6"/>
          <a:srcRect t="10642"/>
          <a:stretch>
            <a:fillRect/>
          </a:stretch>
        </p:blipFill>
        <p:spPr>
          <a:xfrm>
            <a:off x="603593" y="1158663"/>
            <a:ext cx="9033694" cy="4540673"/>
          </a:xfrm>
          <a:prstGeom prst="rect">
            <a:avLst/>
          </a:prstGeom>
        </p:spPr>
      </p:pic>
      <p:pic>
        <p:nvPicPr>
          <p:cNvPr id="2" name="Google Shape;117;p18">
            <a:extLst>
              <a:ext uri="{FF2B5EF4-FFF2-40B4-BE49-F238E27FC236}">
                <a16:creationId xmlns:a16="http://schemas.microsoft.com/office/drawing/2014/main" id="{D718FBB1-E2D9-009A-7989-D0B7680FC22E}"/>
              </a:ext>
            </a:extLst>
          </p:cNvPr>
          <p:cNvPicPr preferRelativeResize="0"/>
          <p:nvPr/>
        </p:nvPicPr>
        <p:blipFill rotWithShape="1">
          <a:blip r:embed="rId7">
            <a:alphaModFix/>
          </a:blip>
          <a:srcRect/>
          <a:stretch/>
        </p:blipFill>
        <p:spPr>
          <a:xfrm>
            <a:off x="6636781" y="5928851"/>
            <a:ext cx="681451" cy="530047"/>
          </a:xfrm>
          <a:prstGeom prst="rect">
            <a:avLst/>
          </a:prstGeom>
          <a:noFill/>
          <a:ln>
            <a:noFill/>
          </a:ln>
        </p:spPr>
      </p:pic>
    </p:spTree>
    <p:extLst>
      <p:ext uri="{BB962C8B-B14F-4D97-AF65-F5344CB8AC3E}">
        <p14:creationId xmlns:p14="http://schemas.microsoft.com/office/powerpoint/2010/main" val="2802684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3D2D0922-CD2D-1823-7F25-F721EE35EB1E}"/>
            </a:ext>
          </a:extLst>
        </p:cNvPr>
        <p:cNvGrpSpPr/>
        <p:nvPr/>
      </p:nvGrpSpPr>
      <p:grpSpPr>
        <a:xfrm>
          <a:off x="0" y="0"/>
          <a:ext cx="0" cy="0"/>
          <a:chOff x="0" y="0"/>
          <a:chExt cx="0" cy="0"/>
        </a:xfrm>
      </p:grpSpPr>
      <p:pic>
        <p:nvPicPr>
          <p:cNvPr id="236" name="Google Shape;236;p23">
            <a:extLst>
              <a:ext uri="{FF2B5EF4-FFF2-40B4-BE49-F238E27FC236}">
                <a16:creationId xmlns:a16="http://schemas.microsoft.com/office/drawing/2014/main" id="{D3B7A036-F64E-4BCB-DB41-1185DBF7DDA2}"/>
              </a:ext>
            </a:extLst>
          </p:cNvPr>
          <p:cNvPicPr preferRelativeResize="0"/>
          <p:nvPr/>
        </p:nvPicPr>
        <p:blipFill>
          <a:blip r:embed="rId3">
            <a:alphaModFix/>
          </a:blip>
          <a:srcRect r="31598"/>
          <a:stretch>
            <a:fillRect/>
          </a:stretch>
        </p:blipFill>
        <p:spPr>
          <a:xfrm>
            <a:off x="9261855" y="0"/>
            <a:ext cx="2930146" cy="6858000"/>
          </a:xfrm>
          <a:prstGeom prst="rect">
            <a:avLst/>
          </a:prstGeom>
          <a:noFill/>
          <a:ln>
            <a:noFill/>
          </a:ln>
        </p:spPr>
      </p:pic>
      <p:grpSp>
        <p:nvGrpSpPr>
          <p:cNvPr id="243" name="Google Shape;243;p23">
            <a:extLst>
              <a:ext uri="{FF2B5EF4-FFF2-40B4-BE49-F238E27FC236}">
                <a16:creationId xmlns:a16="http://schemas.microsoft.com/office/drawing/2014/main" id="{A58CFE38-9BB1-42C9-FBE5-AEAA7663A95A}"/>
              </a:ext>
            </a:extLst>
          </p:cNvPr>
          <p:cNvGrpSpPr/>
          <p:nvPr/>
        </p:nvGrpSpPr>
        <p:grpSpPr>
          <a:xfrm rot="5400000">
            <a:off x="8543645" y="2747839"/>
            <a:ext cx="5934631" cy="997663"/>
            <a:chOff x="8753449" y="924310"/>
            <a:chExt cx="3134840" cy="668892"/>
          </a:xfrm>
        </p:grpSpPr>
        <p:sp>
          <p:nvSpPr>
            <p:cNvPr id="244" name="Google Shape;244;p23">
              <a:extLst>
                <a:ext uri="{FF2B5EF4-FFF2-40B4-BE49-F238E27FC236}">
                  <a16:creationId xmlns:a16="http://schemas.microsoft.com/office/drawing/2014/main" id="{2685BBAC-3A79-069C-445C-042C466F7C01}"/>
                </a:ext>
              </a:extLst>
            </p:cNvPr>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a:extLst>
                <a:ext uri="{FF2B5EF4-FFF2-40B4-BE49-F238E27FC236}">
                  <a16:creationId xmlns:a16="http://schemas.microsoft.com/office/drawing/2014/main" id="{C9554B9D-0203-EA1F-998F-C03BD81C279E}"/>
                </a:ext>
              </a:extLst>
            </p:cNvPr>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a:extLst>
                <a:ext uri="{FF2B5EF4-FFF2-40B4-BE49-F238E27FC236}">
                  <a16:creationId xmlns:a16="http://schemas.microsoft.com/office/drawing/2014/main" id="{1A4FA0C7-6CB4-B600-AA9F-69D84785F35A}"/>
                </a:ext>
              </a:extLst>
            </p:cNvPr>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a:extLst>
                <a:ext uri="{FF2B5EF4-FFF2-40B4-BE49-F238E27FC236}">
                  <a16:creationId xmlns:a16="http://schemas.microsoft.com/office/drawing/2014/main" id="{DA864CBA-4B3C-16D8-11DE-7A2EDE397D1F}"/>
                </a:ext>
              </a:extLst>
            </p:cNvPr>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a:extLst>
                <a:ext uri="{FF2B5EF4-FFF2-40B4-BE49-F238E27FC236}">
                  <a16:creationId xmlns:a16="http://schemas.microsoft.com/office/drawing/2014/main" id="{46120B8C-06C3-618D-022E-5384AD462782}"/>
                </a:ext>
              </a:extLst>
            </p:cNvPr>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7CB20DB9-D79D-43D8-4CA7-74FBAFEB2EBE}"/>
                </a:ext>
              </a:extLst>
            </p:cNvPr>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2" name="Google Shape;345;p26">
            <a:extLst>
              <a:ext uri="{FF2B5EF4-FFF2-40B4-BE49-F238E27FC236}">
                <a16:creationId xmlns:a16="http://schemas.microsoft.com/office/drawing/2014/main" id="{E072DAC9-D994-9B90-0F50-ED03264CEA74}"/>
              </a:ext>
            </a:extLst>
          </p:cNvPr>
          <p:cNvPicPr preferRelativeResize="0"/>
          <p:nvPr/>
        </p:nvPicPr>
        <p:blipFill rotWithShape="1">
          <a:blip r:embed="rId4">
            <a:alphaModFix/>
          </a:blip>
          <a:srcRect/>
          <a:stretch/>
        </p:blipFill>
        <p:spPr>
          <a:xfrm rot="-589488">
            <a:off x="502386" y="556691"/>
            <a:ext cx="202415" cy="158251"/>
          </a:xfrm>
          <a:prstGeom prst="rect">
            <a:avLst/>
          </a:prstGeom>
          <a:noFill/>
          <a:ln>
            <a:noFill/>
          </a:ln>
        </p:spPr>
      </p:pic>
      <p:pic>
        <p:nvPicPr>
          <p:cNvPr id="13" name="Google Shape;346;p26">
            <a:extLst>
              <a:ext uri="{FF2B5EF4-FFF2-40B4-BE49-F238E27FC236}">
                <a16:creationId xmlns:a16="http://schemas.microsoft.com/office/drawing/2014/main" id="{396B7D4B-DBF4-16C0-FEE0-68AC4CE8528C}"/>
              </a:ext>
            </a:extLst>
          </p:cNvPr>
          <p:cNvPicPr preferRelativeResize="0"/>
          <p:nvPr/>
        </p:nvPicPr>
        <p:blipFill rotWithShape="1">
          <a:blip r:embed="rId5">
            <a:alphaModFix/>
          </a:blip>
          <a:srcRect/>
          <a:stretch/>
        </p:blipFill>
        <p:spPr>
          <a:xfrm rot="-605715">
            <a:off x="4655544" y="636112"/>
            <a:ext cx="124112" cy="97032"/>
          </a:xfrm>
          <a:prstGeom prst="rect">
            <a:avLst/>
          </a:prstGeom>
          <a:noFill/>
          <a:ln>
            <a:noFill/>
          </a:ln>
        </p:spPr>
      </p:pic>
      <p:sp>
        <p:nvSpPr>
          <p:cNvPr id="4" name="Google Shape;311;p24">
            <a:extLst>
              <a:ext uri="{FF2B5EF4-FFF2-40B4-BE49-F238E27FC236}">
                <a16:creationId xmlns:a16="http://schemas.microsoft.com/office/drawing/2014/main" id="{4F7A3733-F30A-9FC6-31D0-28207420253A}"/>
              </a:ext>
            </a:extLst>
          </p:cNvPr>
          <p:cNvSpPr txBox="1">
            <a:spLocks/>
          </p:cNvSpPr>
          <p:nvPr/>
        </p:nvSpPr>
        <p:spPr>
          <a:xfrm>
            <a:off x="626393" y="454640"/>
            <a:ext cx="4060935" cy="51167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Tableau Dashboard</a:t>
            </a:r>
          </a:p>
        </p:txBody>
      </p:sp>
      <p:pic>
        <p:nvPicPr>
          <p:cNvPr id="10" name="Picture 9">
            <a:extLst>
              <a:ext uri="{FF2B5EF4-FFF2-40B4-BE49-F238E27FC236}">
                <a16:creationId xmlns:a16="http://schemas.microsoft.com/office/drawing/2014/main" id="{807D73E7-F2AF-0FEB-C9FB-D1AF60438DD3}"/>
              </a:ext>
            </a:extLst>
          </p:cNvPr>
          <p:cNvPicPr>
            <a:picLocks noChangeAspect="1"/>
          </p:cNvPicPr>
          <p:nvPr/>
        </p:nvPicPr>
        <p:blipFill>
          <a:blip r:embed="rId6"/>
          <a:srcRect t="10642"/>
          <a:stretch>
            <a:fillRect/>
          </a:stretch>
        </p:blipFill>
        <p:spPr>
          <a:xfrm>
            <a:off x="490368" y="1191465"/>
            <a:ext cx="8839612" cy="4443120"/>
          </a:xfrm>
          <a:prstGeom prst="rect">
            <a:avLst/>
          </a:prstGeom>
        </p:spPr>
      </p:pic>
      <p:sp>
        <p:nvSpPr>
          <p:cNvPr id="2" name="Rectangle 1">
            <a:extLst>
              <a:ext uri="{FF2B5EF4-FFF2-40B4-BE49-F238E27FC236}">
                <a16:creationId xmlns:a16="http://schemas.microsoft.com/office/drawing/2014/main" id="{CAD9FD8A-B969-A3CD-ED66-C957834D2092}"/>
              </a:ext>
            </a:extLst>
          </p:cNvPr>
          <p:cNvSpPr/>
          <p:nvPr/>
        </p:nvSpPr>
        <p:spPr>
          <a:xfrm>
            <a:off x="8160774" y="4267200"/>
            <a:ext cx="918873" cy="8357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Google Shape;117;p18">
            <a:extLst>
              <a:ext uri="{FF2B5EF4-FFF2-40B4-BE49-F238E27FC236}">
                <a16:creationId xmlns:a16="http://schemas.microsoft.com/office/drawing/2014/main" id="{B50EE67C-F61F-7782-CCEF-F212A8A3EE52}"/>
              </a:ext>
            </a:extLst>
          </p:cNvPr>
          <p:cNvPicPr preferRelativeResize="0"/>
          <p:nvPr/>
        </p:nvPicPr>
        <p:blipFill rotWithShape="1">
          <a:blip r:embed="rId7">
            <a:alphaModFix/>
          </a:blip>
          <a:srcRect/>
          <a:stretch/>
        </p:blipFill>
        <p:spPr>
          <a:xfrm>
            <a:off x="6784264" y="5928851"/>
            <a:ext cx="681451" cy="530047"/>
          </a:xfrm>
          <a:prstGeom prst="rect">
            <a:avLst/>
          </a:prstGeom>
          <a:noFill/>
          <a:ln>
            <a:noFill/>
          </a:ln>
        </p:spPr>
      </p:pic>
    </p:spTree>
    <p:extLst>
      <p:ext uri="{BB962C8B-B14F-4D97-AF65-F5344CB8AC3E}">
        <p14:creationId xmlns:p14="http://schemas.microsoft.com/office/powerpoint/2010/main" val="2189463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F142F"/>
        </a:solidFill>
        <a:effectLst/>
      </p:bgPr>
    </p:bg>
    <p:spTree>
      <p:nvGrpSpPr>
        <p:cNvPr id="1" name="Shape 489"/>
        <p:cNvGrpSpPr/>
        <p:nvPr/>
      </p:nvGrpSpPr>
      <p:grpSpPr>
        <a:xfrm>
          <a:off x="0" y="0"/>
          <a:ext cx="0" cy="0"/>
          <a:chOff x="0" y="0"/>
          <a:chExt cx="0" cy="0"/>
        </a:xfrm>
      </p:grpSpPr>
      <p:pic>
        <p:nvPicPr>
          <p:cNvPr id="491" name="Google Shape;491;p30"/>
          <p:cNvPicPr preferRelativeResize="0"/>
          <p:nvPr/>
        </p:nvPicPr>
        <p:blipFill rotWithShape="1">
          <a:blip r:embed="rId3">
            <a:alphaModFix/>
            <a:extLst>
              <a:ext uri="{BEBA8EAE-BF5A-486C-A8C5-ECC9F3942E4B}">
                <a14:imgProps xmlns:a14="http://schemas.microsoft.com/office/drawing/2010/main">
                  <a14:imgLayer r:embed="rId4">
                    <a14:imgEffect>
                      <a14:artisticPhotocopy/>
                    </a14:imgEffect>
                  </a14:imgLayer>
                </a14:imgProps>
              </a:ext>
            </a:extLst>
          </a:blip>
          <a:srcRect/>
          <a:stretch/>
        </p:blipFill>
        <p:spPr>
          <a:xfrm rot="-589488">
            <a:off x="538196" y="448229"/>
            <a:ext cx="202415" cy="158251"/>
          </a:xfrm>
          <a:prstGeom prst="rect">
            <a:avLst/>
          </a:prstGeom>
          <a:noFill/>
          <a:ln>
            <a:noFill/>
          </a:ln>
        </p:spPr>
      </p:pic>
      <p:pic>
        <p:nvPicPr>
          <p:cNvPr id="492" name="Google Shape;492;p30"/>
          <p:cNvPicPr preferRelativeResize="0"/>
          <p:nvPr/>
        </p:nvPicPr>
        <p:blipFill rotWithShape="1">
          <a:blip r:embed="rId5">
            <a:alphaModFix/>
            <a:extLst>
              <a:ext uri="{BEBA8EAE-BF5A-486C-A8C5-ECC9F3942E4B}">
                <a14:imgProps xmlns:a14="http://schemas.microsoft.com/office/drawing/2010/main">
                  <a14:imgLayer r:embed="rId6">
                    <a14:imgEffect>
                      <a14:artisticPhotocopy/>
                    </a14:imgEffect>
                  </a14:imgLayer>
                </a14:imgProps>
              </a:ext>
            </a:extLst>
          </a:blip>
          <a:srcRect/>
          <a:stretch/>
        </p:blipFill>
        <p:spPr>
          <a:xfrm rot="-605715">
            <a:off x="1513714" y="501243"/>
            <a:ext cx="124112" cy="97032"/>
          </a:xfrm>
          <a:prstGeom prst="rect">
            <a:avLst/>
          </a:prstGeom>
          <a:noFill/>
          <a:ln>
            <a:noFill/>
          </a:ln>
        </p:spPr>
      </p:pic>
      <p:sp>
        <p:nvSpPr>
          <p:cNvPr id="554" name="Google Shape;554;p30"/>
          <p:cNvSpPr txBox="1">
            <a:spLocks noGrp="1"/>
          </p:cNvSpPr>
          <p:nvPr>
            <p:ph type="title"/>
          </p:nvPr>
        </p:nvSpPr>
        <p:spPr>
          <a:xfrm>
            <a:off x="711200" y="331506"/>
            <a:ext cx="1127432" cy="50779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dirty="0">
                <a:solidFill>
                  <a:schemeClr val="bg1"/>
                </a:solidFill>
              </a:rPr>
              <a:t>SQL</a:t>
            </a:r>
            <a:endParaRPr dirty="0">
              <a:solidFill>
                <a:schemeClr val="bg1"/>
              </a:solidFill>
            </a:endParaRPr>
          </a:p>
        </p:txBody>
      </p:sp>
      <p:pic>
        <p:nvPicPr>
          <p:cNvPr id="11" name="Picture 10">
            <a:extLst>
              <a:ext uri="{FF2B5EF4-FFF2-40B4-BE49-F238E27FC236}">
                <a16:creationId xmlns:a16="http://schemas.microsoft.com/office/drawing/2014/main" id="{24C30F90-03C8-7656-3E2F-DF61FD8B3895}"/>
              </a:ext>
            </a:extLst>
          </p:cNvPr>
          <p:cNvPicPr>
            <a:picLocks noChangeAspect="1"/>
          </p:cNvPicPr>
          <p:nvPr/>
        </p:nvPicPr>
        <p:blipFill>
          <a:blip r:embed="rId7"/>
          <a:srcRect l="13309" t="29648" r="56523" b="23836"/>
          <a:stretch>
            <a:fillRect/>
          </a:stretch>
        </p:blipFill>
        <p:spPr>
          <a:xfrm>
            <a:off x="153799" y="919226"/>
            <a:ext cx="4135742" cy="3587049"/>
          </a:xfrm>
          <a:prstGeom prst="rect">
            <a:avLst/>
          </a:prstGeom>
        </p:spPr>
      </p:pic>
      <p:pic>
        <p:nvPicPr>
          <p:cNvPr id="13" name="Picture 12">
            <a:extLst>
              <a:ext uri="{FF2B5EF4-FFF2-40B4-BE49-F238E27FC236}">
                <a16:creationId xmlns:a16="http://schemas.microsoft.com/office/drawing/2014/main" id="{B75A8B0D-1880-3A29-1C63-B4DA301E6FFE}"/>
              </a:ext>
            </a:extLst>
          </p:cNvPr>
          <p:cNvPicPr>
            <a:picLocks noChangeAspect="1"/>
          </p:cNvPicPr>
          <p:nvPr/>
        </p:nvPicPr>
        <p:blipFill>
          <a:blip r:embed="rId8"/>
          <a:srcRect l="13855" t="29486" r="47052" b="45376"/>
          <a:stretch>
            <a:fillRect/>
          </a:stretch>
        </p:blipFill>
        <p:spPr>
          <a:xfrm>
            <a:off x="426790" y="4655028"/>
            <a:ext cx="5915016" cy="2139598"/>
          </a:xfrm>
          <a:prstGeom prst="rect">
            <a:avLst/>
          </a:prstGeom>
        </p:spPr>
      </p:pic>
      <p:pic>
        <p:nvPicPr>
          <p:cNvPr id="15" name="Picture 14">
            <a:extLst>
              <a:ext uri="{FF2B5EF4-FFF2-40B4-BE49-F238E27FC236}">
                <a16:creationId xmlns:a16="http://schemas.microsoft.com/office/drawing/2014/main" id="{73155BEF-23E0-2969-7FB0-46AD88898267}"/>
              </a:ext>
            </a:extLst>
          </p:cNvPr>
          <p:cNvPicPr>
            <a:picLocks noChangeAspect="1"/>
          </p:cNvPicPr>
          <p:nvPr/>
        </p:nvPicPr>
        <p:blipFill>
          <a:blip r:embed="rId9"/>
          <a:srcRect l="12817" t="27086" r="53071" b="23903"/>
          <a:stretch>
            <a:fillRect/>
          </a:stretch>
        </p:blipFill>
        <p:spPr>
          <a:xfrm>
            <a:off x="4424826" y="919226"/>
            <a:ext cx="4021034" cy="3587049"/>
          </a:xfrm>
          <a:prstGeom prst="rect">
            <a:avLst/>
          </a:prstGeom>
        </p:spPr>
      </p:pic>
      <p:pic>
        <p:nvPicPr>
          <p:cNvPr id="17" name="Picture 16">
            <a:extLst>
              <a:ext uri="{FF2B5EF4-FFF2-40B4-BE49-F238E27FC236}">
                <a16:creationId xmlns:a16="http://schemas.microsoft.com/office/drawing/2014/main" id="{44FCB1E5-B035-DFDA-54DF-59BA76C7852E}"/>
              </a:ext>
            </a:extLst>
          </p:cNvPr>
          <p:cNvPicPr>
            <a:picLocks noChangeAspect="1"/>
          </p:cNvPicPr>
          <p:nvPr/>
        </p:nvPicPr>
        <p:blipFill>
          <a:blip r:embed="rId10"/>
          <a:srcRect l="12425" t="24017" r="62907" b="32205"/>
          <a:stretch>
            <a:fillRect/>
          </a:stretch>
        </p:blipFill>
        <p:spPr>
          <a:xfrm>
            <a:off x="8594674" y="919226"/>
            <a:ext cx="3517337" cy="3587050"/>
          </a:xfrm>
          <a:prstGeom prst="rect">
            <a:avLst/>
          </a:prstGeom>
        </p:spPr>
      </p:pic>
      <p:pic>
        <p:nvPicPr>
          <p:cNvPr id="21" name="Picture 20">
            <a:extLst>
              <a:ext uri="{FF2B5EF4-FFF2-40B4-BE49-F238E27FC236}">
                <a16:creationId xmlns:a16="http://schemas.microsoft.com/office/drawing/2014/main" id="{8D49735C-A69B-8F59-9961-91E776F7AA1D}"/>
              </a:ext>
            </a:extLst>
          </p:cNvPr>
          <p:cNvPicPr>
            <a:picLocks noChangeAspect="1"/>
          </p:cNvPicPr>
          <p:nvPr/>
        </p:nvPicPr>
        <p:blipFill>
          <a:blip r:embed="rId11"/>
          <a:srcRect l="13495" t="44444" r="45699" b="24518"/>
          <a:stretch>
            <a:fillRect/>
          </a:stretch>
        </p:blipFill>
        <p:spPr>
          <a:xfrm>
            <a:off x="6511041" y="4655028"/>
            <a:ext cx="5346662" cy="213959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pic>
        <p:nvPicPr>
          <p:cNvPr id="431" name="Google Shape;431;p28"/>
          <p:cNvPicPr preferRelativeResize="0"/>
          <p:nvPr/>
        </p:nvPicPr>
        <p:blipFill>
          <a:blip r:embed="rId3">
            <a:alphaModFix/>
          </a:blip>
          <a:stretch>
            <a:fillRect/>
          </a:stretch>
        </p:blipFill>
        <p:spPr>
          <a:xfrm>
            <a:off x="6631600" y="0"/>
            <a:ext cx="5560399" cy="6857999"/>
          </a:xfrm>
          <a:prstGeom prst="rect">
            <a:avLst/>
          </a:prstGeom>
          <a:noFill/>
          <a:ln>
            <a:noFill/>
          </a:ln>
        </p:spPr>
      </p:pic>
      <p:pic>
        <p:nvPicPr>
          <p:cNvPr id="436" name="Google Shape;436;p28" descr="A person and person looking at their phones&#10;&#10;Description automatically generated"/>
          <p:cNvPicPr preferRelativeResize="0"/>
          <p:nvPr/>
        </p:nvPicPr>
        <p:blipFill rotWithShape="1">
          <a:blip r:embed="rId4">
            <a:alphaModFix/>
          </a:blip>
          <a:srcRect/>
          <a:stretch/>
        </p:blipFill>
        <p:spPr>
          <a:xfrm>
            <a:off x="5167085" y="203056"/>
            <a:ext cx="9982418" cy="6654944"/>
          </a:xfrm>
          <a:prstGeom prst="rect">
            <a:avLst/>
          </a:prstGeom>
          <a:noFill/>
          <a:ln>
            <a:noFill/>
          </a:ln>
        </p:spPr>
      </p:pic>
      <p:pic>
        <p:nvPicPr>
          <p:cNvPr id="432" name="Google Shape;432;p28"/>
          <p:cNvPicPr preferRelativeResize="0"/>
          <p:nvPr/>
        </p:nvPicPr>
        <p:blipFill rotWithShape="1">
          <a:blip r:embed="rId5">
            <a:alphaModFix/>
          </a:blip>
          <a:srcRect/>
          <a:stretch/>
        </p:blipFill>
        <p:spPr>
          <a:xfrm rot="-589488">
            <a:off x="534305" y="826563"/>
            <a:ext cx="202415" cy="158251"/>
          </a:xfrm>
          <a:prstGeom prst="rect">
            <a:avLst/>
          </a:prstGeom>
          <a:noFill/>
          <a:ln>
            <a:noFill/>
          </a:ln>
        </p:spPr>
      </p:pic>
      <p:pic>
        <p:nvPicPr>
          <p:cNvPr id="433" name="Google Shape;433;p28"/>
          <p:cNvPicPr preferRelativeResize="0"/>
          <p:nvPr/>
        </p:nvPicPr>
        <p:blipFill rotWithShape="1">
          <a:blip r:embed="rId6">
            <a:alphaModFix/>
          </a:blip>
          <a:srcRect/>
          <a:stretch/>
        </p:blipFill>
        <p:spPr>
          <a:xfrm rot="-605715">
            <a:off x="2436661" y="802226"/>
            <a:ext cx="124112" cy="97032"/>
          </a:xfrm>
          <a:prstGeom prst="rect">
            <a:avLst/>
          </a:prstGeom>
          <a:noFill/>
          <a:ln>
            <a:noFill/>
          </a:ln>
        </p:spPr>
      </p:pic>
      <p:sp>
        <p:nvSpPr>
          <p:cNvPr id="434" name="Google Shape;434;p28"/>
          <p:cNvSpPr txBox="1"/>
          <p:nvPr/>
        </p:nvSpPr>
        <p:spPr>
          <a:xfrm>
            <a:off x="975330" y="5275361"/>
            <a:ext cx="5366476" cy="658601"/>
          </a:xfrm>
          <a:prstGeom prst="rect">
            <a:avLst/>
          </a:prstGeom>
          <a:noFill/>
          <a:ln>
            <a:noFill/>
          </a:ln>
        </p:spPr>
        <p:txBody>
          <a:bodyPr spcFirstLastPara="1" wrap="square" lIns="91425" tIns="45700" rIns="91425" bIns="45700" anchor="t" anchorCtr="0">
            <a:spAutoFit/>
          </a:bodyPr>
          <a:lstStyle/>
          <a:p>
            <a:pPr lvl="0">
              <a:lnSpc>
                <a:spcPct val="115000"/>
              </a:lnSpc>
            </a:pPr>
            <a:r>
              <a:rPr lang="en-US" sz="1600" dirty="0">
                <a:solidFill>
                  <a:srgbClr val="0C0C0C"/>
                </a:solidFill>
                <a:latin typeface="Calibri"/>
                <a:ea typeface="Calibri"/>
                <a:cs typeface="Calibri"/>
                <a:sym typeface="Calibri"/>
              </a:rPr>
              <a:t>Most of the Indian restaurants are serving North Indian cuisine, need to diversify.</a:t>
            </a:r>
            <a:endParaRPr sz="1600" dirty="0">
              <a:solidFill>
                <a:srgbClr val="0C0C0C"/>
              </a:solidFill>
              <a:latin typeface="Calibri"/>
              <a:ea typeface="Calibri"/>
              <a:cs typeface="Calibri"/>
              <a:sym typeface="Calibri"/>
            </a:endParaRPr>
          </a:p>
        </p:txBody>
      </p:sp>
      <p:pic>
        <p:nvPicPr>
          <p:cNvPr id="435" name="Google Shape;435;p28"/>
          <p:cNvPicPr preferRelativeResize="0"/>
          <p:nvPr/>
        </p:nvPicPr>
        <p:blipFill rotWithShape="1">
          <a:blip r:embed="rId7">
            <a:alphaModFix/>
          </a:blip>
          <a:srcRect/>
          <a:stretch/>
        </p:blipFill>
        <p:spPr>
          <a:xfrm>
            <a:off x="10818935" y="838200"/>
            <a:ext cx="1544422" cy="774338"/>
          </a:xfrm>
          <a:prstGeom prst="rect">
            <a:avLst/>
          </a:prstGeom>
          <a:noFill/>
          <a:ln>
            <a:noFill/>
          </a:ln>
        </p:spPr>
      </p:pic>
      <p:sp>
        <p:nvSpPr>
          <p:cNvPr id="441" name="Google Shape;441;p28"/>
          <p:cNvSpPr txBox="1"/>
          <p:nvPr/>
        </p:nvSpPr>
        <p:spPr>
          <a:xfrm>
            <a:off x="975330" y="1485508"/>
            <a:ext cx="5656270" cy="658601"/>
          </a:xfrm>
          <a:prstGeom prst="rect">
            <a:avLst/>
          </a:prstGeom>
          <a:noFill/>
          <a:ln>
            <a:noFill/>
          </a:ln>
        </p:spPr>
        <p:txBody>
          <a:bodyPr spcFirstLastPara="1" wrap="square" lIns="91425" tIns="45700" rIns="91425" bIns="45700" anchor="t" anchorCtr="0">
            <a:spAutoFit/>
          </a:bodyPr>
          <a:lstStyle/>
          <a:p>
            <a:pPr lvl="0">
              <a:lnSpc>
                <a:spcPct val="115000"/>
              </a:lnSpc>
            </a:pPr>
            <a:r>
              <a:rPr lang="en-US" sz="1600" dirty="0">
                <a:solidFill>
                  <a:srgbClr val="0C0C0C"/>
                </a:solidFill>
                <a:latin typeface="Calibri"/>
                <a:ea typeface="Calibri"/>
                <a:cs typeface="Calibri"/>
                <a:sym typeface="Calibri"/>
              </a:rPr>
              <a:t>Zomato, being an Indian startup, has primary footprints in India. But limited to major cities.</a:t>
            </a:r>
          </a:p>
        </p:txBody>
      </p:sp>
      <p:sp>
        <p:nvSpPr>
          <p:cNvPr id="442" name="Google Shape;442;p28"/>
          <p:cNvSpPr txBox="1"/>
          <p:nvPr/>
        </p:nvSpPr>
        <p:spPr>
          <a:xfrm>
            <a:off x="975330" y="2267997"/>
            <a:ext cx="7693900" cy="375447"/>
          </a:xfrm>
          <a:prstGeom prst="rect">
            <a:avLst/>
          </a:prstGeom>
          <a:noFill/>
          <a:ln>
            <a:noFill/>
          </a:ln>
        </p:spPr>
        <p:txBody>
          <a:bodyPr spcFirstLastPara="1" wrap="square" lIns="91425" tIns="45700" rIns="91425" bIns="45700" anchor="t" anchorCtr="0">
            <a:spAutoFit/>
          </a:bodyPr>
          <a:lstStyle/>
          <a:p>
            <a:pPr lvl="0">
              <a:lnSpc>
                <a:spcPct val="115000"/>
              </a:lnSpc>
            </a:pPr>
            <a:r>
              <a:rPr lang="en-US" sz="1600" dirty="0">
                <a:solidFill>
                  <a:srgbClr val="0C0C0C"/>
                </a:solidFill>
                <a:latin typeface="Calibri"/>
                <a:ea typeface="Calibri"/>
                <a:cs typeface="Calibri"/>
                <a:sym typeface="Calibri"/>
              </a:rPr>
              <a:t>It has a good business in USA as well. But spars in Europe.</a:t>
            </a:r>
          </a:p>
        </p:txBody>
      </p:sp>
      <p:sp>
        <p:nvSpPr>
          <p:cNvPr id="444" name="Google Shape;444;p28"/>
          <p:cNvSpPr txBox="1"/>
          <p:nvPr/>
        </p:nvSpPr>
        <p:spPr>
          <a:xfrm>
            <a:off x="975330" y="2951873"/>
            <a:ext cx="5656270" cy="658601"/>
          </a:xfrm>
          <a:prstGeom prst="rect">
            <a:avLst/>
          </a:prstGeom>
          <a:noFill/>
          <a:ln>
            <a:noFill/>
          </a:ln>
        </p:spPr>
        <p:txBody>
          <a:bodyPr spcFirstLastPara="1" wrap="square" lIns="91425" tIns="45700" rIns="91425" bIns="45700" anchor="t" anchorCtr="0">
            <a:spAutoFit/>
          </a:bodyPr>
          <a:lstStyle/>
          <a:p>
            <a:pPr lvl="0">
              <a:lnSpc>
                <a:spcPct val="115000"/>
              </a:lnSpc>
            </a:pPr>
            <a:r>
              <a:rPr lang="en-US" sz="1600" dirty="0">
                <a:solidFill>
                  <a:srgbClr val="0C0C0C"/>
                </a:solidFill>
                <a:latin typeface="Calibri"/>
                <a:ea typeface="Calibri"/>
                <a:cs typeface="Calibri"/>
                <a:sym typeface="Calibri"/>
              </a:rPr>
              <a:t>In most of the countries online delivery and table booking facilities are not available or limited to a few restaurants.</a:t>
            </a:r>
          </a:p>
        </p:txBody>
      </p:sp>
      <p:sp>
        <p:nvSpPr>
          <p:cNvPr id="455" name="Google Shape;455;p28"/>
          <p:cNvSpPr txBox="1">
            <a:spLocks noGrp="1"/>
          </p:cNvSpPr>
          <p:nvPr>
            <p:ph type="title"/>
          </p:nvPr>
        </p:nvSpPr>
        <p:spPr>
          <a:xfrm>
            <a:off x="713836" y="666105"/>
            <a:ext cx="1990035" cy="507791"/>
          </a:xfrm>
          <a:prstGeom prst="rect">
            <a:avLst/>
          </a:prstGeom>
          <a:noFill/>
          <a:ln>
            <a:noFill/>
          </a:ln>
        </p:spPr>
        <p:txBody>
          <a:bodyPr spcFirstLastPara="1" wrap="square" lIns="91425" tIns="45700" rIns="91425" bIns="45700" anchor="t" anchorCtr="0">
            <a:spAutoFit/>
          </a:bodyPr>
          <a:lstStyle/>
          <a:p>
            <a:pPr lvl="0"/>
            <a:r>
              <a:rPr lang="en-US" dirty="0">
                <a:sym typeface="Calibri"/>
              </a:rPr>
              <a:t>Insights</a:t>
            </a:r>
            <a:endParaRPr dirty="0"/>
          </a:p>
        </p:txBody>
      </p:sp>
      <p:sp>
        <p:nvSpPr>
          <p:cNvPr id="6" name="Google Shape;444;p28">
            <a:extLst>
              <a:ext uri="{FF2B5EF4-FFF2-40B4-BE49-F238E27FC236}">
                <a16:creationId xmlns:a16="http://schemas.microsoft.com/office/drawing/2014/main" id="{253DA067-8436-F42D-96F6-75A32849A7F9}"/>
              </a:ext>
            </a:extLst>
          </p:cNvPr>
          <p:cNvSpPr txBox="1"/>
          <p:nvPr/>
        </p:nvSpPr>
        <p:spPr>
          <a:xfrm>
            <a:off x="975330" y="3699817"/>
            <a:ext cx="5560399" cy="658601"/>
          </a:xfrm>
          <a:prstGeom prst="rect">
            <a:avLst/>
          </a:prstGeom>
          <a:noFill/>
          <a:ln>
            <a:noFill/>
          </a:ln>
        </p:spPr>
        <p:txBody>
          <a:bodyPr spcFirstLastPara="1" wrap="square" lIns="91425" tIns="45700" rIns="91425" bIns="45700" anchor="t" anchorCtr="0">
            <a:spAutoFit/>
          </a:bodyPr>
          <a:lstStyle/>
          <a:p>
            <a:pPr lvl="0">
              <a:lnSpc>
                <a:spcPct val="115000"/>
              </a:lnSpc>
            </a:pPr>
            <a:r>
              <a:rPr lang="en-US" sz="1600" dirty="0">
                <a:solidFill>
                  <a:srgbClr val="0C0C0C"/>
                </a:solidFill>
                <a:latin typeface="Calibri"/>
                <a:ea typeface="Calibri"/>
                <a:cs typeface="Calibri"/>
                <a:sym typeface="Calibri"/>
              </a:rPr>
              <a:t>In India, average rating for economy restaurants is 2.79 which should be improved.</a:t>
            </a:r>
          </a:p>
        </p:txBody>
      </p:sp>
      <p:sp>
        <p:nvSpPr>
          <p:cNvPr id="7" name="Google Shape;444;p28">
            <a:extLst>
              <a:ext uri="{FF2B5EF4-FFF2-40B4-BE49-F238E27FC236}">
                <a16:creationId xmlns:a16="http://schemas.microsoft.com/office/drawing/2014/main" id="{B0D5C642-FDEB-4540-26EA-6D739C014443}"/>
              </a:ext>
            </a:extLst>
          </p:cNvPr>
          <p:cNvSpPr txBox="1"/>
          <p:nvPr/>
        </p:nvSpPr>
        <p:spPr>
          <a:xfrm>
            <a:off x="975330" y="4442571"/>
            <a:ext cx="5366476" cy="658601"/>
          </a:xfrm>
          <a:prstGeom prst="rect">
            <a:avLst/>
          </a:prstGeom>
          <a:noFill/>
          <a:ln>
            <a:noFill/>
          </a:ln>
        </p:spPr>
        <p:txBody>
          <a:bodyPr spcFirstLastPara="1" wrap="square" lIns="91425" tIns="45700" rIns="91425" bIns="45700" anchor="t" anchorCtr="0">
            <a:spAutoFit/>
          </a:bodyPr>
          <a:lstStyle/>
          <a:p>
            <a:pPr lvl="0">
              <a:lnSpc>
                <a:spcPct val="115000"/>
              </a:lnSpc>
            </a:pPr>
            <a:r>
              <a:rPr lang="en-US" sz="1600" dirty="0">
                <a:solidFill>
                  <a:srgbClr val="0C0C0C"/>
                </a:solidFill>
                <a:latin typeface="Calibri"/>
                <a:ea typeface="Calibri"/>
                <a:cs typeface="Calibri"/>
                <a:sym typeface="Calibri"/>
              </a:rPr>
              <a:t>Year wise new restaurants listing has no significant jumps in past years.</a:t>
            </a:r>
          </a:p>
        </p:txBody>
      </p:sp>
      <p:grpSp>
        <p:nvGrpSpPr>
          <p:cNvPr id="9" name="Group 8">
            <a:extLst>
              <a:ext uri="{FF2B5EF4-FFF2-40B4-BE49-F238E27FC236}">
                <a16:creationId xmlns:a16="http://schemas.microsoft.com/office/drawing/2014/main" id="{3E7AEAFE-ACAF-4864-5122-23C110BAEC18}"/>
              </a:ext>
            </a:extLst>
          </p:cNvPr>
          <p:cNvGrpSpPr/>
          <p:nvPr/>
        </p:nvGrpSpPr>
        <p:grpSpPr>
          <a:xfrm>
            <a:off x="407026" y="1431254"/>
            <a:ext cx="515764" cy="515764"/>
            <a:chOff x="804051" y="1503151"/>
            <a:chExt cx="515764" cy="515764"/>
          </a:xfrm>
        </p:grpSpPr>
        <p:sp>
          <p:nvSpPr>
            <p:cNvPr id="10" name="Google Shape;130;p19">
              <a:extLst>
                <a:ext uri="{FF2B5EF4-FFF2-40B4-BE49-F238E27FC236}">
                  <a16:creationId xmlns:a16="http://schemas.microsoft.com/office/drawing/2014/main" id="{9612F508-0144-2BE5-41F8-5DDD28AD2559}"/>
                </a:ext>
              </a:extLst>
            </p:cNvPr>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 name="Google Shape;131;p19">
              <a:extLst>
                <a:ext uri="{FF2B5EF4-FFF2-40B4-BE49-F238E27FC236}">
                  <a16:creationId xmlns:a16="http://schemas.microsoft.com/office/drawing/2014/main" id="{BE1FC9EF-15EC-99F4-CCEB-DC7743D8829C}"/>
                </a:ext>
              </a:extLst>
            </p:cNvPr>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01</a:t>
              </a:r>
              <a:endParaRPr sz="1400" b="1" dirty="0">
                <a:solidFill>
                  <a:schemeClr val="accent1"/>
                </a:solidFill>
                <a:latin typeface="Poppins"/>
                <a:ea typeface="Poppins"/>
                <a:cs typeface="Poppins"/>
                <a:sym typeface="Poppins"/>
              </a:endParaRPr>
            </a:p>
          </p:txBody>
        </p:sp>
      </p:grpSp>
      <p:grpSp>
        <p:nvGrpSpPr>
          <p:cNvPr id="12" name="Group 11">
            <a:extLst>
              <a:ext uri="{FF2B5EF4-FFF2-40B4-BE49-F238E27FC236}">
                <a16:creationId xmlns:a16="http://schemas.microsoft.com/office/drawing/2014/main" id="{12BBBEF6-4D73-1FB8-D118-FA75570E517E}"/>
              </a:ext>
            </a:extLst>
          </p:cNvPr>
          <p:cNvGrpSpPr/>
          <p:nvPr/>
        </p:nvGrpSpPr>
        <p:grpSpPr>
          <a:xfrm>
            <a:off x="407026" y="2170078"/>
            <a:ext cx="515764" cy="515764"/>
            <a:chOff x="804051" y="1503151"/>
            <a:chExt cx="515764" cy="515764"/>
          </a:xfrm>
        </p:grpSpPr>
        <p:sp>
          <p:nvSpPr>
            <p:cNvPr id="13" name="Google Shape;130;p19">
              <a:extLst>
                <a:ext uri="{FF2B5EF4-FFF2-40B4-BE49-F238E27FC236}">
                  <a16:creationId xmlns:a16="http://schemas.microsoft.com/office/drawing/2014/main" id="{4BB959A3-BA64-1819-EED7-C58612741CEC}"/>
                </a:ext>
              </a:extLst>
            </p:cNvPr>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131;p19">
              <a:extLst>
                <a:ext uri="{FF2B5EF4-FFF2-40B4-BE49-F238E27FC236}">
                  <a16:creationId xmlns:a16="http://schemas.microsoft.com/office/drawing/2014/main" id="{CF2F79CD-9517-A6B8-9FB1-A1E93226AD2C}"/>
                </a:ext>
              </a:extLst>
            </p:cNvPr>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02</a:t>
              </a:r>
              <a:endParaRPr sz="1400" b="1" dirty="0">
                <a:solidFill>
                  <a:schemeClr val="accent1"/>
                </a:solidFill>
                <a:latin typeface="Poppins"/>
                <a:ea typeface="Poppins"/>
                <a:cs typeface="Poppins"/>
                <a:sym typeface="Poppins"/>
              </a:endParaRPr>
            </a:p>
          </p:txBody>
        </p:sp>
      </p:grpSp>
      <p:grpSp>
        <p:nvGrpSpPr>
          <p:cNvPr id="15" name="Group 14">
            <a:extLst>
              <a:ext uri="{FF2B5EF4-FFF2-40B4-BE49-F238E27FC236}">
                <a16:creationId xmlns:a16="http://schemas.microsoft.com/office/drawing/2014/main" id="{B22315C0-10DC-C9E2-6746-E104F5FCB288}"/>
              </a:ext>
            </a:extLst>
          </p:cNvPr>
          <p:cNvGrpSpPr/>
          <p:nvPr/>
        </p:nvGrpSpPr>
        <p:grpSpPr>
          <a:xfrm>
            <a:off x="391096" y="4497974"/>
            <a:ext cx="515764" cy="515764"/>
            <a:chOff x="804051" y="1503151"/>
            <a:chExt cx="515764" cy="515764"/>
          </a:xfrm>
        </p:grpSpPr>
        <p:sp>
          <p:nvSpPr>
            <p:cNvPr id="16" name="Google Shape;130;p19">
              <a:extLst>
                <a:ext uri="{FF2B5EF4-FFF2-40B4-BE49-F238E27FC236}">
                  <a16:creationId xmlns:a16="http://schemas.microsoft.com/office/drawing/2014/main" id="{BE27FBDD-1CDA-1C3F-4CE2-25192C863CB1}"/>
                </a:ext>
              </a:extLst>
            </p:cNvPr>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 name="Google Shape;131;p19">
              <a:extLst>
                <a:ext uri="{FF2B5EF4-FFF2-40B4-BE49-F238E27FC236}">
                  <a16:creationId xmlns:a16="http://schemas.microsoft.com/office/drawing/2014/main" id="{82285C78-EA4C-245B-1196-BC66A7C88AA2}"/>
                </a:ext>
              </a:extLst>
            </p:cNvPr>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05</a:t>
              </a:r>
              <a:endParaRPr sz="1400" b="1" dirty="0">
                <a:solidFill>
                  <a:schemeClr val="accent1"/>
                </a:solidFill>
                <a:latin typeface="Poppins"/>
                <a:ea typeface="Poppins"/>
                <a:cs typeface="Poppins"/>
                <a:sym typeface="Poppins"/>
              </a:endParaRPr>
            </a:p>
          </p:txBody>
        </p:sp>
      </p:grpSp>
      <p:grpSp>
        <p:nvGrpSpPr>
          <p:cNvPr id="18" name="Group 17">
            <a:extLst>
              <a:ext uri="{FF2B5EF4-FFF2-40B4-BE49-F238E27FC236}">
                <a16:creationId xmlns:a16="http://schemas.microsoft.com/office/drawing/2014/main" id="{EE8F7FA1-B013-D926-DF28-72C6D9742118}"/>
              </a:ext>
            </a:extLst>
          </p:cNvPr>
          <p:cNvGrpSpPr/>
          <p:nvPr/>
        </p:nvGrpSpPr>
        <p:grpSpPr>
          <a:xfrm>
            <a:off x="402327" y="5275361"/>
            <a:ext cx="515764" cy="515764"/>
            <a:chOff x="804051" y="1503151"/>
            <a:chExt cx="515764" cy="515764"/>
          </a:xfrm>
        </p:grpSpPr>
        <p:sp>
          <p:nvSpPr>
            <p:cNvPr id="19" name="Google Shape;130;p19">
              <a:extLst>
                <a:ext uri="{FF2B5EF4-FFF2-40B4-BE49-F238E27FC236}">
                  <a16:creationId xmlns:a16="http://schemas.microsoft.com/office/drawing/2014/main" id="{429562BF-9F80-527B-BE4C-91463292EB33}"/>
                </a:ext>
              </a:extLst>
            </p:cNvPr>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0" name="Google Shape;131;p19">
              <a:extLst>
                <a:ext uri="{FF2B5EF4-FFF2-40B4-BE49-F238E27FC236}">
                  <a16:creationId xmlns:a16="http://schemas.microsoft.com/office/drawing/2014/main" id="{0D06D86C-C2FE-5A56-DDBF-049EB5CDB33B}"/>
                </a:ext>
              </a:extLst>
            </p:cNvPr>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06</a:t>
              </a:r>
              <a:endParaRPr sz="1400" b="1" dirty="0">
                <a:solidFill>
                  <a:schemeClr val="accent1"/>
                </a:solidFill>
                <a:latin typeface="Poppins"/>
                <a:ea typeface="Poppins"/>
                <a:cs typeface="Poppins"/>
                <a:sym typeface="Poppins"/>
              </a:endParaRPr>
            </a:p>
          </p:txBody>
        </p:sp>
      </p:grpSp>
      <p:grpSp>
        <p:nvGrpSpPr>
          <p:cNvPr id="21" name="Group 20">
            <a:extLst>
              <a:ext uri="{FF2B5EF4-FFF2-40B4-BE49-F238E27FC236}">
                <a16:creationId xmlns:a16="http://schemas.microsoft.com/office/drawing/2014/main" id="{F9C74DC7-EF3F-131D-6E02-D3AA6830B635}"/>
              </a:ext>
            </a:extLst>
          </p:cNvPr>
          <p:cNvGrpSpPr/>
          <p:nvPr/>
        </p:nvGrpSpPr>
        <p:grpSpPr>
          <a:xfrm>
            <a:off x="377630" y="3720587"/>
            <a:ext cx="515764" cy="515764"/>
            <a:chOff x="804051" y="1503151"/>
            <a:chExt cx="515764" cy="515764"/>
          </a:xfrm>
        </p:grpSpPr>
        <p:sp>
          <p:nvSpPr>
            <p:cNvPr id="22" name="Google Shape;130;p19">
              <a:extLst>
                <a:ext uri="{FF2B5EF4-FFF2-40B4-BE49-F238E27FC236}">
                  <a16:creationId xmlns:a16="http://schemas.microsoft.com/office/drawing/2014/main" id="{0513CF67-071B-F150-7D84-FB798E0978CE}"/>
                </a:ext>
              </a:extLst>
            </p:cNvPr>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 name="Google Shape;131;p19">
              <a:extLst>
                <a:ext uri="{FF2B5EF4-FFF2-40B4-BE49-F238E27FC236}">
                  <a16:creationId xmlns:a16="http://schemas.microsoft.com/office/drawing/2014/main" id="{48941DAA-A511-2011-BFD8-AC1FA60937FA}"/>
                </a:ext>
              </a:extLst>
            </p:cNvPr>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04</a:t>
              </a:r>
              <a:endParaRPr sz="1400" b="1" dirty="0">
                <a:solidFill>
                  <a:schemeClr val="accent1"/>
                </a:solidFill>
                <a:latin typeface="Poppins"/>
                <a:ea typeface="Poppins"/>
                <a:cs typeface="Poppins"/>
                <a:sym typeface="Poppins"/>
              </a:endParaRPr>
            </a:p>
          </p:txBody>
        </p:sp>
      </p:grpSp>
      <p:grpSp>
        <p:nvGrpSpPr>
          <p:cNvPr id="24" name="Group 23">
            <a:extLst>
              <a:ext uri="{FF2B5EF4-FFF2-40B4-BE49-F238E27FC236}">
                <a16:creationId xmlns:a16="http://schemas.microsoft.com/office/drawing/2014/main" id="{A56252DE-0DDD-5F0A-54BB-5A591B6AAF3B}"/>
              </a:ext>
            </a:extLst>
          </p:cNvPr>
          <p:cNvGrpSpPr/>
          <p:nvPr/>
        </p:nvGrpSpPr>
        <p:grpSpPr>
          <a:xfrm>
            <a:off x="397629" y="2947465"/>
            <a:ext cx="515764" cy="515764"/>
            <a:chOff x="804051" y="1503151"/>
            <a:chExt cx="515764" cy="515764"/>
          </a:xfrm>
        </p:grpSpPr>
        <p:sp>
          <p:nvSpPr>
            <p:cNvPr id="25" name="Google Shape;130;p19">
              <a:extLst>
                <a:ext uri="{FF2B5EF4-FFF2-40B4-BE49-F238E27FC236}">
                  <a16:creationId xmlns:a16="http://schemas.microsoft.com/office/drawing/2014/main" id="{7035ADF4-7707-D709-9935-5B79ADDF2E4F}"/>
                </a:ext>
              </a:extLst>
            </p:cNvPr>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 name="Google Shape;131;p19">
              <a:extLst>
                <a:ext uri="{FF2B5EF4-FFF2-40B4-BE49-F238E27FC236}">
                  <a16:creationId xmlns:a16="http://schemas.microsoft.com/office/drawing/2014/main" id="{FC9CDB1C-514F-C67F-BCD2-0BA4651BE095}"/>
                </a:ext>
              </a:extLst>
            </p:cNvPr>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03</a:t>
              </a:r>
              <a:endParaRPr sz="1400" b="1" dirty="0">
                <a:solidFill>
                  <a:schemeClr val="accent1"/>
                </a:solidFill>
                <a:latin typeface="Poppins"/>
                <a:ea typeface="Poppins"/>
                <a:cs typeface="Poppins"/>
                <a:sym typeface="Poppins"/>
              </a:endParaRPr>
            </a:p>
          </p:txBody>
        </p:sp>
      </p:grpSp>
      <p:pic>
        <p:nvPicPr>
          <p:cNvPr id="27" name="Google Shape;117;p18">
            <a:extLst>
              <a:ext uri="{FF2B5EF4-FFF2-40B4-BE49-F238E27FC236}">
                <a16:creationId xmlns:a16="http://schemas.microsoft.com/office/drawing/2014/main" id="{7AAB84CE-F854-041B-3EF9-97BCDC92B0ED}"/>
              </a:ext>
            </a:extLst>
          </p:cNvPr>
          <p:cNvPicPr preferRelativeResize="0"/>
          <p:nvPr/>
        </p:nvPicPr>
        <p:blipFill rotWithShape="1">
          <a:blip r:embed="rId8">
            <a:alphaModFix/>
          </a:blip>
          <a:srcRect/>
          <a:stretch/>
        </p:blipFill>
        <p:spPr>
          <a:xfrm>
            <a:off x="6853084" y="5928851"/>
            <a:ext cx="681451" cy="5300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pic>
        <p:nvPicPr>
          <p:cNvPr id="563" name="Google Shape;563;p31"/>
          <p:cNvPicPr preferRelativeResize="0"/>
          <p:nvPr/>
        </p:nvPicPr>
        <p:blipFill>
          <a:blip r:embed="rId3">
            <a:alphaModFix/>
          </a:blip>
          <a:srcRect r="19774" b="16357"/>
          <a:stretch>
            <a:fillRect/>
          </a:stretch>
        </p:blipFill>
        <p:spPr>
          <a:xfrm>
            <a:off x="6248400" y="0"/>
            <a:ext cx="5943600" cy="6842332"/>
          </a:xfrm>
          <a:prstGeom prst="rect">
            <a:avLst/>
          </a:prstGeom>
          <a:noFill/>
          <a:ln>
            <a:noFill/>
          </a:ln>
        </p:spPr>
      </p:pic>
      <p:pic>
        <p:nvPicPr>
          <p:cNvPr id="564" name="Google Shape;564;p31"/>
          <p:cNvPicPr preferRelativeResize="0"/>
          <p:nvPr/>
        </p:nvPicPr>
        <p:blipFill rotWithShape="1">
          <a:blip r:embed="rId4">
            <a:alphaModFix/>
          </a:blip>
          <a:srcRect/>
          <a:stretch/>
        </p:blipFill>
        <p:spPr>
          <a:xfrm rot="-589488">
            <a:off x="463120" y="1455215"/>
            <a:ext cx="202415" cy="158251"/>
          </a:xfrm>
          <a:prstGeom prst="rect">
            <a:avLst/>
          </a:prstGeom>
          <a:noFill/>
          <a:ln>
            <a:noFill/>
          </a:ln>
        </p:spPr>
      </p:pic>
      <p:pic>
        <p:nvPicPr>
          <p:cNvPr id="565" name="Google Shape;565;p31"/>
          <p:cNvPicPr preferRelativeResize="0"/>
          <p:nvPr/>
        </p:nvPicPr>
        <p:blipFill rotWithShape="1">
          <a:blip r:embed="rId5">
            <a:alphaModFix/>
          </a:blip>
          <a:srcRect/>
          <a:stretch/>
        </p:blipFill>
        <p:spPr>
          <a:xfrm rot="-605715">
            <a:off x="4418631" y="1468432"/>
            <a:ext cx="124112" cy="97032"/>
          </a:xfrm>
          <a:prstGeom prst="rect">
            <a:avLst/>
          </a:prstGeom>
          <a:noFill/>
          <a:ln>
            <a:noFill/>
          </a:ln>
        </p:spPr>
      </p:pic>
      <p:pic>
        <p:nvPicPr>
          <p:cNvPr id="569" name="Google Shape;569;p31"/>
          <p:cNvPicPr preferRelativeResize="0"/>
          <p:nvPr/>
        </p:nvPicPr>
        <p:blipFill rotWithShape="1">
          <a:blip r:embed="rId6">
            <a:alphaModFix/>
          </a:blip>
          <a:srcRect/>
          <a:stretch/>
        </p:blipFill>
        <p:spPr>
          <a:xfrm>
            <a:off x="7014807" y="248265"/>
            <a:ext cx="1544422" cy="774338"/>
          </a:xfrm>
          <a:prstGeom prst="rect">
            <a:avLst/>
          </a:prstGeom>
          <a:noFill/>
          <a:ln>
            <a:noFill/>
          </a:ln>
        </p:spPr>
      </p:pic>
      <p:grpSp>
        <p:nvGrpSpPr>
          <p:cNvPr id="570" name="Google Shape;570;p31"/>
          <p:cNvGrpSpPr/>
          <p:nvPr/>
        </p:nvGrpSpPr>
        <p:grpSpPr>
          <a:xfrm>
            <a:off x="10832634" y="15670"/>
            <a:ext cx="1291527" cy="6052900"/>
            <a:chOff x="11059391" y="2420023"/>
            <a:chExt cx="668892" cy="3134840"/>
          </a:xfrm>
        </p:grpSpPr>
        <p:sp>
          <p:nvSpPr>
            <p:cNvPr id="571" name="Google Shape;571;p31"/>
            <p:cNvSpPr/>
            <p:nvPr/>
          </p:nvSpPr>
          <p:spPr>
            <a:xfrm rot="5400000">
              <a:off x="10934570" y="352398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2" name="Google Shape;572;p31"/>
            <p:cNvSpPr/>
            <p:nvPr/>
          </p:nvSpPr>
          <p:spPr>
            <a:xfrm rot="5400000">
              <a:off x="11081233" y="504176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3" name="Google Shape;573;p31"/>
            <p:cNvSpPr/>
            <p:nvPr/>
          </p:nvSpPr>
          <p:spPr>
            <a:xfrm rot="5400000">
              <a:off x="11081802" y="287111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4" name="Google Shape;574;p31"/>
            <p:cNvSpPr/>
            <p:nvPr/>
          </p:nvSpPr>
          <p:spPr>
            <a:xfrm rot="5400000">
              <a:off x="11093113" y="416978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5" name="Google Shape;575;p31"/>
            <p:cNvSpPr/>
            <p:nvPr/>
          </p:nvSpPr>
          <p:spPr>
            <a:xfrm rot="5400000">
              <a:off x="11086918" y="241187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6" name="Google Shape;576;p31"/>
            <p:cNvSpPr/>
            <p:nvPr/>
          </p:nvSpPr>
          <p:spPr>
            <a:xfrm rot="5400000">
              <a:off x="11219643" y="4563687"/>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84" name="Google Shape;584;p31"/>
          <p:cNvSpPr txBox="1">
            <a:spLocks noGrp="1"/>
          </p:cNvSpPr>
          <p:nvPr>
            <p:ph type="title"/>
          </p:nvPr>
        </p:nvSpPr>
        <p:spPr>
          <a:xfrm>
            <a:off x="589526" y="1343025"/>
            <a:ext cx="3992306" cy="507791"/>
          </a:xfrm>
          <a:prstGeom prst="rect">
            <a:avLst/>
          </a:prstGeom>
          <a:noFill/>
          <a:ln>
            <a:noFill/>
          </a:ln>
        </p:spPr>
        <p:txBody>
          <a:bodyPr spcFirstLastPara="1" wrap="square" lIns="91425" tIns="45700" rIns="91425" bIns="45700" anchor="t" anchorCtr="0">
            <a:spAutoFit/>
          </a:bodyPr>
          <a:lstStyle/>
          <a:p>
            <a:r>
              <a:rPr lang="en-US" dirty="0"/>
              <a:t>Recommendations</a:t>
            </a:r>
          </a:p>
        </p:txBody>
      </p:sp>
      <p:pic>
        <p:nvPicPr>
          <p:cNvPr id="365" name="Google Shape;365;p26" descr="A person holding a tray of coffee and a phone"/>
          <p:cNvPicPr preferRelativeResize="0"/>
          <p:nvPr/>
        </p:nvPicPr>
        <p:blipFill rotWithShape="1">
          <a:blip r:embed="rId7">
            <a:alphaModFix/>
          </a:blip>
          <a:srcRect/>
          <a:stretch/>
        </p:blipFill>
        <p:spPr>
          <a:xfrm>
            <a:off x="4438528" y="1725600"/>
            <a:ext cx="7962898" cy="5308598"/>
          </a:xfrm>
          <a:prstGeom prst="rect">
            <a:avLst/>
          </a:prstGeom>
          <a:noFill/>
          <a:ln>
            <a:noFill/>
          </a:ln>
        </p:spPr>
      </p:pic>
      <p:sp>
        <p:nvSpPr>
          <p:cNvPr id="8" name="TextBox 7">
            <a:extLst>
              <a:ext uri="{FF2B5EF4-FFF2-40B4-BE49-F238E27FC236}">
                <a16:creationId xmlns:a16="http://schemas.microsoft.com/office/drawing/2014/main" id="{FB9F4D3E-D271-5B86-9695-CAA6C917202B}"/>
              </a:ext>
            </a:extLst>
          </p:cNvPr>
          <p:cNvSpPr txBox="1"/>
          <p:nvPr/>
        </p:nvSpPr>
        <p:spPr>
          <a:xfrm>
            <a:off x="451102" y="2581335"/>
            <a:ext cx="7186583" cy="1600438"/>
          </a:xfrm>
          <a:prstGeom prst="rect">
            <a:avLst/>
          </a:prstGeom>
          <a:noFill/>
        </p:spPr>
        <p:txBody>
          <a:bodyPr wrap="none" rtlCol="0">
            <a:spAutoFit/>
          </a:bodyPr>
          <a:lstStyle/>
          <a:p>
            <a:r>
              <a:rPr lang="en-US" dirty="0"/>
              <a:t>1. Need to expand to  tier 2 and tier 3 cities in India. It will give a major boost to Zomato. </a:t>
            </a:r>
          </a:p>
          <a:p>
            <a:endParaRPr lang="en-US" dirty="0"/>
          </a:p>
          <a:p>
            <a:r>
              <a:rPr lang="en-US" dirty="0"/>
              <a:t>2. There is a huge potential in USA, Europe, East Asia and Australia for Zomato.</a:t>
            </a:r>
          </a:p>
          <a:p>
            <a:endParaRPr lang="en-US" dirty="0"/>
          </a:p>
          <a:p>
            <a:r>
              <a:rPr lang="en-US" dirty="0"/>
              <a:t>3. Should work on online delivery and table booking facilities.</a:t>
            </a:r>
          </a:p>
          <a:p>
            <a:endParaRPr lang="en-US" dirty="0"/>
          </a:p>
          <a:p>
            <a:r>
              <a:rPr lang="en-US" dirty="0"/>
              <a:t>4. Ratings of Indian restaurants shows the room for improvements.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372" name="Google Shape;372;p27"/>
          <p:cNvPicPr preferRelativeResize="0"/>
          <p:nvPr/>
        </p:nvPicPr>
        <p:blipFill rotWithShape="1">
          <a:blip r:embed="rId3">
            <a:alphaModFix/>
          </a:blip>
          <a:srcRect/>
          <a:stretch/>
        </p:blipFill>
        <p:spPr>
          <a:xfrm rot="-589488">
            <a:off x="505730" y="664640"/>
            <a:ext cx="202415" cy="158251"/>
          </a:xfrm>
          <a:prstGeom prst="rect">
            <a:avLst/>
          </a:prstGeom>
          <a:noFill/>
          <a:ln>
            <a:noFill/>
          </a:ln>
        </p:spPr>
      </p:pic>
      <p:pic>
        <p:nvPicPr>
          <p:cNvPr id="373" name="Google Shape;373;p27"/>
          <p:cNvPicPr preferRelativeResize="0"/>
          <p:nvPr/>
        </p:nvPicPr>
        <p:blipFill rotWithShape="1">
          <a:blip r:embed="rId4">
            <a:alphaModFix/>
          </a:blip>
          <a:srcRect/>
          <a:stretch/>
        </p:blipFill>
        <p:spPr>
          <a:xfrm rot="-605715">
            <a:off x="2749966" y="713328"/>
            <a:ext cx="124112" cy="97032"/>
          </a:xfrm>
          <a:prstGeom prst="rect">
            <a:avLst/>
          </a:prstGeom>
          <a:noFill/>
          <a:ln>
            <a:noFill/>
          </a:ln>
        </p:spPr>
      </p:pic>
      <p:grpSp>
        <p:nvGrpSpPr>
          <p:cNvPr id="374" name="Google Shape;374;p27"/>
          <p:cNvGrpSpPr/>
          <p:nvPr/>
        </p:nvGrpSpPr>
        <p:grpSpPr>
          <a:xfrm>
            <a:off x="8143848" y="1200081"/>
            <a:ext cx="3134840" cy="4183232"/>
            <a:chOff x="8753449" y="924310"/>
            <a:chExt cx="3134840" cy="4183232"/>
          </a:xfrm>
        </p:grpSpPr>
        <p:sp>
          <p:nvSpPr>
            <p:cNvPr id="375" name="Google Shape;375;p27"/>
            <p:cNvSpPr/>
            <p:nvPr/>
          </p:nvSpPr>
          <p:spPr>
            <a:xfrm>
              <a:off x="9719843" y="457614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27"/>
            <p:cNvSpPr/>
            <p:nvPr/>
          </p:nvSpPr>
          <p:spPr>
            <a:xfrm>
              <a:off x="11396025" y="457259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27"/>
            <p:cNvSpPr/>
            <p:nvPr/>
          </p:nvSpPr>
          <p:spPr>
            <a:xfrm>
              <a:off x="9226948" y="457752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27"/>
            <p:cNvSpPr/>
            <p:nvPr/>
          </p:nvSpPr>
          <p:spPr>
            <a:xfrm>
              <a:off x="10524707" y="456331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27"/>
            <p:cNvSpPr/>
            <p:nvPr/>
          </p:nvSpPr>
          <p:spPr>
            <a:xfrm>
              <a:off x="8753449" y="459302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27"/>
            <p:cNvSpPr/>
            <p:nvPr/>
          </p:nvSpPr>
          <p:spPr>
            <a:xfrm>
              <a:off x="11051998" y="443865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1" name="Google Shape;381;p27"/>
            <p:cNvSpPr/>
            <p:nvPr/>
          </p:nvSpPr>
          <p:spPr>
            <a:xfrm>
              <a:off x="9719843" y="3873280"/>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2" name="Google Shape;382;p27"/>
            <p:cNvSpPr/>
            <p:nvPr/>
          </p:nvSpPr>
          <p:spPr>
            <a:xfrm>
              <a:off x="11396025" y="386973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3" name="Google Shape;383;p27"/>
            <p:cNvSpPr/>
            <p:nvPr/>
          </p:nvSpPr>
          <p:spPr>
            <a:xfrm>
              <a:off x="9226948" y="3874652"/>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27"/>
            <p:cNvSpPr/>
            <p:nvPr/>
          </p:nvSpPr>
          <p:spPr>
            <a:xfrm>
              <a:off x="10524707" y="3860447"/>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27"/>
            <p:cNvSpPr/>
            <p:nvPr/>
          </p:nvSpPr>
          <p:spPr>
            <a:xfrm>
              <a:off x="8753449" y="3890161"/>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27"/>
            <p:cNvSpPr/>
            <p:nvPr/>
          </p:nvSpPr>
          <p:spPr>
            <a:xfrm>
              <a:off x="11051998" y="3735782"/>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27"/>
            <p:cNvSpPr/>
            <p:nvPr/>
          </p:nvSpPr>
          <p:spPr>
            <a:xfrm>
              <a:off x="9719843" y="3170412"/>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8" name="Google Shape;388;p27"/>
            <p:cNvSpPr/>
            <p:nvPr/>
          </p:nvSpPr>
          <p:spPr>
            <a:xfrm>
              <a:off x="11396025" y="3166862"/>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27"/>
            <p:cNvSpPr/>
            <p:nvPr/>
          </p:nvSpPr>
          <p:spPr>
            <a:xfrm>
              <a:off x="9226948" y="3171784"/>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27"/>
            <p:cNvSpPr/>
            <p:nvPr/>
          </p:nvSpPr>
          <p:spPr>
            <a:xfrm>
              <a:off x="10524707" y="3157579"/>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1" name="Google Shape;391;p27"/>
            <p:cNvSpPr/>
            <p:nvPr/>
          </p:nvSpPr>
          <p:spPr>
            <a:xfrm>
              <a:off x="8753449" y="3187293"/>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27"/>
            <p:cNvSpPr/>
            <p:nvPr/>
          </p:nvSpPr>
          <p:spPr>
            <a:xfrm>
              <a:off x="11051998" y="3032914"/>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27"/>
            <p:cNvSpPr/>
            <p:nvPr/>
          </p:nvSpPr>
          <p:spPr>
            <a:xfrm>
              <a:off x="9719843" y="2467544"/>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27"/>
            <p:cNvSpPr/>
            <p:nvPr/>
          </p:nvSpPr>
          <p:spPr>
            <a:xfrm>
              <a:off x="11396025" y="2463994"/>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5" name="Google Shape;395;p27"/>
            <p:cNvSpPr/>
            <p:nvPr/>
          </p:nvSpPr>
          <p:spPr>
            <a:xfrm>
              <a:off x="9226948" y="2468916"/>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27"/>
            <p:cNvSpPr/>
            <p:nvPr/>
          </p:nvSpPr>
          <p:spPr>
            <a:xfrm>
              <a:off x="10524707" y="2454711"/>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27"/>
            <p:cNvSpPr/>
            <p:nvPr/>
          </p:nvSpPr>
          <p:spPr>
            <a:xfrm>
              <a:off x="8753449" y="2484425"/>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27"/>
            <p:cNvSpPr/>
            <p:nvPr/>
          </p:nvSpPr>
          <p:spPr>
            <a:xfrm>
              <a:off x="11051998" y="2330046"/>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27"/>
            <p:cNvSpPr/>
            <p:nvPr/>
          </p:nvSpPr>
          <p:spPr>
            <a:xfrm>
              <a:off x="9719843" y="176467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0" name="Google Shape;400;p27"/>
            <p:cNvSpPr/>
            <p:nvPr/>
          </p:nvSpPr>
          <p:spPr>
            <a:xfrm>
              <a:off x="11396025" y="1761126"/>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1" name="Google Shape;401;p27"/>
            <p:cNvSpPr/>
            <p:nvPr/>
          </p:nvSpPr>
          <p:spPr>
            <a:xfrm>
              <a:off x="9226948" y="1766048"/>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p27"/>
            <p:cNvSpPr/>
            <p:nvPr/>
          </p:nvSpPr>
          <p:spPr>
            <a:xfrm>
              <a:off x="10524707" y="175184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27"/>
            <p:cNvSpPr/>
            <p:nvPr/>
          </p:nvSpPr>
          <p:spPr>
            <a:xfrm>
              <a:off x="8753449" y="178155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27"/>
            <p:cNvSpPr/>
            <p:nvPr/>
          </p:nvSpPr>
          <p:spPr>
            <a:xfrm>
              <a:off x="11051998" y="1627178"/>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27"/>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27"/>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27"/>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27"/>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p27"/>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27"/>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chemeClr val="accent1">
                <a:alpha val="31764"/>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 name="Group 3">
            <a:extLst>
              <a:ext uri="{FF2B5EF4-FFF2-40B4-BE49-F238E27FC236}">
                <a16:creationId xmlns:a16="http://schemas.microsoft.com/office/drawing/2014/main" id="{966E3631-172C-EDF8-2B33-D5C067A1D88F}"/>
              </a:ext>
            </a:extLst>
          </p:cNvPr>
          <p:cNvGrpSpPr/>
          <p:nvPr/>
        </p:nvGrpSpPr>
        <p:grpSpPr>
          <a:xfrm>
            <a:off x="803275" y="1288020"/>
            <a:ext cx="6569982" cy="1003184"/>
            <a:chOff x="803275" y="1934856"/>
            <a:chExt cx="6569982" cy="1003184"/>
          </a:xfrm>
        </p:grpSpPr>
        <p:sp>
          <p:nvSpPr>
            <p:cNvPr id="412" name="Google Shape;412;p27"/>
            <p:cNvSpPr/>
            <p:nvPr/>
          </p:nvSpPr>
          <p:spPr>
            <a:xfrm>
              <a:off x="803275" y="1934856"/>
              <a:ext cx="6569982" cy="1003184"/>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3" name="Google Shape;413;p27"/>
            <p:cNvSpPr txBox="1"/>
            <p:nvPr/>
          </p:nvSpPr>
          <p:spPr>
            <a:xfrm>
              <a:off x="901700" y="2078641"/>
              <a:ext cx="6324600" cy="835573"/>
            </a:xfrm>
            <a:prstGeom prst="rect">
              <a:avLst/>
            </a:prstGeom>
            <a:noFill/>
            <a:ln>
              <a:noFill/>
            </a:ln>
          </p:spPr>
          <p:txBody>
            <a:bodyPr spcFirstLastPara="1" wrap="square" lIns="91425" tIns="45700" rIns="91425" bIns="45700" anchor="t" anchorCtr="0">
              <a:spAutoFit/>
            </a:bodyPr>
            <a:lstStyle/>
            <a:p>
              <a:pPr lvl="0" algn="ctr">
                <a:lnSpc>
                  <a:spcPct val="115000"/>
                </a:lnSpc>
              </a:pPr>
              <a:r>
                <a:rPr lang="en-US" dirty="0">
                  <a:solidFill>
                    <a:schemeClr val="lt1"/>
                  </a:solidFill>
                  <a:latin typeface="Calibri"/>
                  <a:ea typeface="Calibri"/>
                  <a:cs typeface="Calibri"/>
                  <a:sym typeface="Calibri"/>
                </a:rPr>
                <a:t>This project is about Zomato restaurants, analyzing which I learnt how to analyze restaurant data and collect insightful trends and patterns which can lead to the data driven decision making.</a:t>
              </a:r>
              <a:endParaRPr dirty="0">
                <a:solidFill>
                  <a:schemeClr val="lt1"/>
                </a:solidFill>
                <a:latin typeface="Calibri"/>
                <a:ea typeface="Calibri"/>
                <a:cs typeface="Calibri"/>
                <a:sym typeface="Calibri"/>
              </a:endParaRPr>
            </a:p>
          </p:txBody>
        </p:sp>
      </p:grpSp>
      <p:grpSp>
        <p:nvGrpSpPr>
          <p:cNvPr id="6" name="Group 5">
            <a:extLst>
              <a:ext uri="{FF2B5EF4-FFF2-40B4-BE49-F238E27FC236}">
                <a16:creationId xmlns:a16="http://schemas.microsoft.com/office/drawing/2014/main" id="{13725EA6-ACEC-CF93-B044-7EB1BF24C70D}"/>
              </a:ext>
            </a:extLst>
          </p:cNvPr>
          <p:cNvGrpSpPr/>
          <p:nvPr/>
        </p:nvGrpSpPr>
        <p:grpSpPr>
          <a:xfrm>
            <a:off x="803275" y="5104830"/>
            <a:ext cx="6569982" cy="1003184"/>
            <a:chOff x="803275" y="4928338"/>
            <a:chExt cx="6569982" cy="1003184"/>
          </a:xfrm>
        </p:grpSpPr>
        <p:sp>
          <p:nvSpPr>
            <p:cNvPr id="415" name="Google Shape;415;p27"/>
            <p:cNvSpPr/>
            <p:nvPr/>
          </p:nvSpPr>
          <p:spPr>
            <a:xfrm>
              <a:off x="803275" y="4928338"/>
              <a:ext cx="6569982" cy="1003184"/>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27"/>
            <p:cNvSpPr txBox="1"/>
            <p:nvPr/>
          </p:nvSpPr>
          <p:spPr>
            <a:xfrm>
              <a:off x="901700" y="5099581"/>
              <a:ext cx="6324600" cy="587813"/>
            </a:xfrm>
            <a:prstGeom prst="rect">
              <a:avLst/>
            </a:prstGeom>
            <a:noFill/>
            <a:ln>
              <a:noFill/>
            </a:ln>
          </p:spPr>
          <p:txBody>
            <a:bodyPr spcFirstLastPara="1" wrap="square" lIns="91425" tIns="45700" rIns="91425" bIns="45700" anchor="t" anchorCtr="0">
              <a:spAutoFit/>
            </a:bodyPr>
            <a:lstStyle/>
            <a:p>
              <a:pPr lvl="0" algn="ctr">
                <a:lnSpc>
                  <a:spcPct val="115000"/>
                </a:lnSpc>
              </a:pPr>
              <a:r>
                <a:rPr lang="en-US" dirty="0">
                  <a:solidFill>
                    <a:schemeClr val="lt1"/>
                  </a:solidFill>
                  <a:latin typeface="Calibri"/>
                  <a:ea typeface="Calibri"/>
                  <a:cs typeface="Calibri"/>
                  <a:sym typeface="Calibri"/>
                </a:rPr>
                <a:t>I would like to further contribute to the data driven industry and unravel the hidden patterns and trends that it can become the growth engine for the company.</a:t>
              </a:r>
            </a:p>
          </p:txBody>
        </p:sp>
      </p:grpSp>
      <p:grpSp>
        <p:nvGrpSpPr>
          <p:cNvPr id="5" name="Group 4">
            <a:extLst>
              <a:ext uri="{FF2B5EF4-FFF2-40B4-BE49-F238E27FC236}">
                <a16:creationId xmlns:a16="http://schemas.microsoft.com/office/drawing/2014/main" id="{E8D62158-8ECC-C069-4854-F35236756A8F}"/>
              </a:ext>
            </a:extLst>
          </p:cNvPr>
          <p:cNvGrpSpPr/>
          <p:nvPr/>
        </p:nvGrpSpPr>
        <p:grpSpPr>
          <a:xfrm>
            <a:off x="803275" y="2596735"/>
            <a:ext cx="6569982" cy="1003184"/>
            <a:chOff x="803275" y="3431597"/>
            <a:chExt cx="6569982" cy="1003184"/>
          </a:xfrm>
        </p:grpSpPr>
        <p:sp>
          <p:nvSpPr>
            <p:cNvPr id="418" name="Google Shape;418;p27"/>
            <p:cNvSpPr/>
            <p:nvPr/>
          </p:nvSpPr>
          <p:spPr>
            <a:xfrm>
              <a:off x="803275" y="3431597"/>
              <a:ext cx="6569982" cy="1003184"/>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27"/>
            <p:cNvSpPr txBox="1"/>
            <p:nvPr/>
          </p:nvSpPr>
          <p:spPr>
            <a:xfrm>
              <a:off x="901700" y="3602624"/>
              <a:ext cx="6324600" cy="587813"/>
            </a:xfrm>
            <a:prstGeom prst="rect">
              <a:avLst/>
            </a:prstGeom>
            <a:noFill/>
            <a:ln>
              <a:noFill/>
            </a:ln>
          </p:spPr>
          <p:txBody>
            <a:bodyPr spcFirstLastPara="1" wrap="square" lIns="91425" tIns="45700" rIns="91425" bIns="45700" anchor="t" anchorCtr="0">
              <a:spAutoFit/>
            </a:bodyPr>
            <a:lstStyle/>
            <a:p>
              <a:pPr lvl="0" algn="ctr">
                <a:lnSpc>
                  <a:spcPct val="115000"/>
                </a:lnSpc>
              </a:pPr>
              <a:r>
                <a:rPr lang="en-US" dirty="0">
                  <a:solidFill>
                    <a:schemeClr val="lt1"/>
                  </a:solidFill>
                  <a:latin typeface="Calibri"/>
                  <a:ea typeface="Calibri"/>
                  <a:cs typeface="Calibri"/>
                  <a:sym typeface="Calibri"/>
                </a:rPr>
                <a:t>I got the hands-on practice of tools like Advance Excel, power query editor, pivot table, data modelling, Power BI,  Dax, drill down, drill through, SQL etc.</a:t>
              </a:r>
              <a:endParaRPr dirty="0">
                <a:solidFill>
                  <a:schemeClr val="lt1"/>
                </a:solidFill>
                <a:latin typeface="Calibri"/>
                <a:ea typeface="Calibri"/>
                <a:cs typeface="Calibri"/>
                <a:sym typeface="Calibri"/>
              </a:endParaRPr>
            </a:p>
          </p:txBody>
        </p:sp>
      </p:grpSp>
      <p:sp>
        <p:nvSpPr>
          <p:cNvPr id="421" name="Google Shape;421;p27"/>
          <p:cNvSpPr txBox="1">
            <a:spLocks noGrp="1"/>
          </p:cNvSpPr>
          <p:nvPr>
            <p:ph type="title"/>
          </p:nvPr>
        </p:nvSpPr>
        <p:spPr>
          <a:xfrm>
            <a:off x="685800" y="530225"/>
            <a:ext cx="2210516"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Summary</a:t>
            </a:r>
            <a:endParaRPr dirty="0"/>
          </a:p>
        </p:txBody>
      </p:sp>
      <p:pic>
        <p:nvPicPr>
          <p:cNvPr id="425" name="Google Shape;425;p27"/>
          <p:cNvPicPr preferRelativeResize="0"/>
          <p:nvPr/>
        </p:nvPicPr>
        <p:blipFill>
          <a:blip r:embed="rId5">
            <a:alphaModFix/>
          </a:blip>
          <a:stretch>
            <a:fillRect/>
          </a:stretch>
        </p:blipFill>
        <p:spPr>
          <a:xfrm>
            <a:off x="11278700" y="0"/>
            <a:ext cx="924600" cy="6858001"/>
          </a:xfrm>
          <a:prstGeom prst="rect">
            <a:avLst/>
          </a:prstGeom>
          <a:noFill/>
          <a:ln>
            <a:noFill/>
          </a:ln>
        </p:spPr>
      </p:pic>
      <p:grpSp>
        <p:nvGrpSpPr>
          <p:cNvPr id="7" name="Group 6">
            <a:extLst>
              <a:ext uri="{FF2B5EF4-FFF2-40B4-BE49-F238E27FC236}">
                <a16:creationId xmlns:a16="http://schemas.microsoft.com/office/drawing/2014/main" id="{62A96C54-864C-AEDF-5071-D93C1108CF27}"/>
              </a:ext>
            </a:extLst>
          </p:cNvPr>
          <p:cNvGrpSpPr/>
          <p:nvPr/>
        </p:nvGrpSpPr>
        <p:grpSpPr>
          <a:xfrm>
            <a:off x="803275" y="3835902"/>
            <a:ext cx="6569982" cy="1003184"/>
            <a:chOff x="803275" y="4928338"/>
            <a:chExt cx="6569982" cy="1003184"/>
          </a:xfrm>
        </p:grpSpPr>
        <p:sp>
          <p:nvSpPr>
            <p:cNvPr id="8" name="Google Shape;415;p27">
              <a:extLst>
                <a:ext uri="{FF2B5EF4-FFF2-40B4-BE49-F238E27FC236}">
                  <a16:creationId xmlns:a16="http://schemas.microsoft.com/office/drawing/2014/main" id="{4B08B41C-3DB0-7701-7F0A-778E71E5387A}"/>
                </a:ext>
              </a:extLst>
            </p:cNvPr>
            <p:cNvSpPr/>
            <p:nvPr/>
          </p:nvSpPr>
          <p:spPr>
            <a:xfrm>
              <a:off x="803275" y="4928338"/>
              <a:ext cx="6569982" cy="1003184"/>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416;p27">
              <a:extLst>
                <a:ext uri="{FF2B5EF4-FFF2-40B4-BE49-F238E27FC236}">
                  <a16:creationId xmlns:a16="http://schemas.microsoft.com/office/drawing/2014/main" id="{144C58EF-74A1-950F-D21D-08ABED1E9DA3}"/>
                </a:ext>
              </a:extLst>
            </p:cNvPr>
            <p:cNvSpPr txBox="1"/>
            <p:nvPr/>
          </p:nvSpPr>
          <p:spPr>
            <a:xfrm>
              <a:off x="901700" y="5057264"/>
              <a:ext cx="6324600" cy="835573"/>
            </a:xfrm>
            <a:prstGeom prst="rect">
              <a:avLst/>
            </a:prstGeom>
            <a:noFill/>
            <a:ln>
              <a:noFill/>
            </a:ln>
          </p:spPr>
          <p:txBody>
            <a:bodyPr spcFirstLastPara="1" wrap="square" lIns="91425" tIns="45700" rIns="91425" bIns="45700" anchor="t" anchorCtr="0">
              <a:spAutoFit/>
            </a:bodyPr>
            <a:lstStyle/>
            <a:p>
              <a:pPr lvl="0" algn="ctr">
                <a:lnSpc>
                  <a:spcPct val="115000"/>
                </a:lnSpc>
              </a:pPr>
              <a:r>
                <a:rPr lang="en-US" dirty="0">
                  <a:solidFill>
                    <a:schemeClr val="lt1"/>
                  </a:solidFill>
                  <a:latin typeface="Calibri"/>
                  <a:ea typeface="Calibri"/>
                  <a:cs typeface="Calibri"/>
                  <a:sym typeface="Calibri"/>
                </a:rPr>
                <a:t>I learnt how to perform data cleaning, treating null values and handling blanks, merging tables, analyzing data, identifying important columns and key performance indicators, visualizing the data and dashboarding.</a:t>
              </a:r>
              <a:endParaRPr dirty="0">
                <a:solidFill>
                  <a:schemeClr val="lt1"/>
                </a:solidFill>
                <a:latin typeface="Calibri"/>
                <a:ea typeface="Calibri"/>
                <a:cs typeface="Calibri"/>
                <a:sym typeface="Calibri"/>
              </a:endParaRPr>
            </a:p>
          </p:txBody>
        </p:sp>
      </p:grpSp>
      <p:pic>
        <p:nvPicPr>
          <p:cNvPr id="10" name="Google Shape;117;p18">
            <a:extLst>
              <a:ext uri="{FF2B5EF4-FFF2-40B4-BE49-F238E27FC236}">
                <a16:creationId xmlns:a16="http://schemas.microsoft.com/office/drawing/2014/main" id="{DCCD00B8-A905-D18F-980C-5BD3BE8DDC35}"/>
              </a:ext>
            </a:extLst>
          </p:cNvPr>
          <p:cNvPicPr preferRelativeResize="0"/>
          <p:nvPr/>
        </p:nvPicPr>
        <p:blipFill rotWithShape="1">
          <a:blip r:embed="rId6">
            <a:alphaModFix/>
          </a:blip>
          <a:srcRect/>
          <a:stretch/>
        </p:blipFill>
        <p:spPr>
          <a:xfrm>
            <a:off x="10695231" y="5938684"/>
            <a:ext cx="681451" cy="53004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32"/>
          <p:cNvPicPr preferRelativeResize="0"/>
          <p:nvPr/>
        </p:nvPicPr>
        <p:blipFill>
          <a:blip r:embed="rId3">
            <a:alphaModFix/>
          </a:blip>
          <a:stretch>
            <a:fillRect/>
          </a:stretch>
        </p:blipFill>
        <p:spPr>
          <a:xfrm>
            <a:off x="6248400" y="0"/>
            <a:ext cx="5943600" cy="6651326"/>
          </a:xfrm>
          <a:prstGeom prst="rect">
            <a:avLst/>
          </a:prstGeom>
          <a:noFill/>
          <a:ln>
            <a:noFill/>
          </a:ln>
        </p:spPr>
      </p:pic>
      <p:pic>
        <p:nvPicPr>
          <p:cNvPr id="593" name="Google Shape;593;p32"/>
          <p:cNvPicPr preferRelativeResize="0"/>
          <p:nvPr/>
        </p:nvPicPr>
        <p:blipFill rotWithShape="1">
          <a:blip r:embed="rId4">
            <a:alphaModFix/>
          </a:blip>
          <a:srcRect/>
          <a:stretch/>
        </p:blipFill>
        <p:spPr>
          <a:xfrm rot="-605715">
            <a:off x="4925525" y="3116157"/>
            <a:ext cx="292102" cy="228370"/>
          </a:xfrm>
          <a:prstGeom prst="rect">
            <a:avLst/>
          </a:prstGeom>
          <a:noFill/>
          <a:ln>
            <a:noFill/>
          </a:ln>
        </p:spPr>
      </p:pic>
      <p:pic>
        <p:nvPicPr>
          <p:cNvPr id="594" name="Google Shape;594;p32"/>
          <p:cNvPicPr preferRelativeResize="0"/>
          <p:nvPr/>
        </p:nvPicPr>
        <p:blipFill rotWithShape="1">
          <a:blip r:embed="rId5">
            <a:alphaModFix/>
          </a:blip>
          <a:srcRect/>
          <a:stretch/>
        </p:blipFill>
        <p:spPr>
          <a:xfrm rot="-589488">
            <a:off x="281060" y="3321885"/>
            <a:ext cx="512914" cy="401004"/>
          </a:xfrm>
          <a:prstGeom prst="rect">
            <a:avLst/>
          </a:prstGeom>
          <a:noFill/>
          <a:ln>
            <a:noFill/>
          </a:ln>
        </p:spPr>
      </p:pic>
      <p:pic>
        <p:nvPicPr>
          <p:cNvPr id="595" name="Google Shape;595;p32" descr="A screenshot of a phone&#10;&#10;Description automatically generated"/>
          <p:cNvPicPr preferRelativeResize="0"/>
          <p:nvPr/>
        </p:nvPicPr>
        <p:blipFill rotWithShape="1">
          <a:blip r:embed="rId6">
            <a:alphaModFix/>
          </a:blip>
          <a:srcRect/>
          <a:stretch/>
        </p:blipFill>
        <p:spPr>
          <a:xfrm>
            <a:off x="6450766" y="1052513"/>
            <a:ext cx="4293434" cy="4591072"/>
          </a:xfrm>
          <a:prstGeom prst="rect">
            <a:avLst/>
          </a:prstGeom>
          <a:noFill/>
          <a:ln>
            <a:noFill/>
          </a:ln>
        </p:spPr>
      </p:pic>
      <p:pic>
        <p:nvPicPr>
          <p:cNvPr id="596" name="Google Shape;596;p32"/>
          <p:cNvPicPr preferRelativeResize="0"/>
          <p:nvPr/>
        </p:nvPicPr>
        <p:blipFill rotWithShape="1">
          <a:blip r:embed="rId7">
            <a:alphaModFix/>
          </a:blip>
          <a:srcRect/>
          <a:stretch/>
        </p:blipFill>
        <p:spPr>
          <a:xfrm>
            <a:off x="10539535" y="838200"/>
            <a:ext cx="1544422" cy="774338"/>
          </a:xfrm>
          <a:prstGeom prst="rect">
            <a:avLst/>
          </a:prstGeom>
          <a:noFill/>
          <a:ln>
            <a:noFill/>
          </a:ln>
        </p:spPr>
      </p:pic>
      <p:sp>
        <p:nvSpPr>
          <p:cNvPr id="597" name="Google Shape;597;p32"/>
          <p:cNvSpPr txBox="1">
            <a:spLocks noGrp="1"/>
          </p:cNvSpPr>
          <p:nvPr>
            <p:ph type="title"/>
          </p:nvPr>
        </p:nvSpPr>
        <p:spPr>
          <a:xfrm>
            <a:off x="722697" y="2933992"/>
            <a:ext cx="4366901" cy="931024"/>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6000"/>
              <a:buFont typeface="Poppins"/>
              <a:buNone/>
            </a:pPr>
            <a:r>
              <a:rPr lang="en-US" sz="6000" b="1">
                <a:latin typeface="Poppins"/>
                <a:ea typeface="Poppins"/>
                <a:cs typeface="Poppins"/>
                <a:sym typeface="Poppins"/>
              </a:rPr>
              <a:t>Thank You</a:t>
            </a:r>
            <a:endParaRPr/>
          </a:p>
        </p:txBody>
      </p:sp>
      <p:pic>
        <p:nvPicPr>
          <p:cNvPr id="4" name="Google Shape;117;p18">
            <a:extLst>
              <a:ext uri="{FF2B5EF4-FFF2-40B4-BE49-F238E27FC236}">
                <a16:creationId xmlns:a16="http://schemas.microsoft.com/office/drawing/2014/main" id="{22187D20-CC04-F8B3-EF6D-685E4DF842FC}"/>
              </a:ext>
            </a:extLst>
          </p:cNvPr>
          <p:cNvPicPr preferRelativeResize="0"/>
          <p:nvPr/>
        </p:nvPicPr>
        <p:blipFill rotWithShape="1">
          <a:blip r:embed="rId8">
            <a:alphaModFix/>
          </a:blip>
          <a:srcRect/>
          <a:stretch/>
        </p:blipFill>
        <p:spPr>
          <a:xfrm>
            <a:off x="11533268" y="5928851"/>
            <a:ext cx="681451" cy="530047"/>
          </a:xfrm>
          <a:prstGeom prst="rect">
            <a:avLst/>
          </a:prstGeom>
          <a:noFill/>
          <a:ln>
            <a:noFill/>
          </a:ln>
        </p:spPr>
      </p:pic>
      <p:grpSp>
        <p:nvGrpSpPr>
          <p:cNvPr id="5" name="Group 4">
            <a:extLst>
              <a:ext uri="{FF2B5EF4-FFF2-40B4-BE49-F238E27FC236}">
                <a16:creationId xmlns:a16="http://schemas.microsoft.com/office/drawing/2014/main" id="{0C475DBB-080F-5B9F-DD1C-8764052FC3A4}"/>
              </a:ext>
            </a:extLst>
          </p:cNvPr>
          <p:cNvGrpSpPr/>
          <p:nvPr/>
        </p:nvGrpSpPr>
        <p:grpSpPr>
          <a:xfrm>
            <a:off x="722697" y="4822144"/>
            <a:ext cx="3651732" cy="835741"/>
            <a:chOff x="515643" y="5044264"/>
            <a:chExt cx="1922353" cy="385230"/>
          </a:xfrm>
        </p:grpSpPr>
        <p:sp>
          <p:nvSpPr>
            <p:cNvPr id="6" name="Google Shape;118;p18">
              <a:extLst>
                <a:ext uri="{FF2B5EF4-FFF2-40B4-BE49-F238E27FC236}">
                  <a16:creationId xmlns:a16="http://schemas.microsoft.com/office/drawing/2014/main" id="{8C31696C-6307-CA5B-A35A-5FC63FEA7F7F}"/>
                </a:ext>
              </a:extLst>
            </p:cNvPr>
            <p:cNvSpPr/>
            <p:nvPr/>
          </p:nvSpPr>
          <p:spPr>
            <a:xfrm>
              <a:off x="515643" y="5044264"/>
              <a:ext cx="1922353" cy="385230"/>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19;p18">
              <a:extLst>
                <a:ext uri="{FF2B5EF4-FFF2-40B4-BE49-F238E27FC236}">
                  <a16:creationId xmlns:a16="http://schemas.microsoft.com/office/drawing/2014/main" id="{0F62F43A-00F5-E58A-361D-329C03C8E491}"/>
                </a:ext>
              </a:extLst>
            </p:cNvPr>
            <p:cNvSpPr txBox="1"/>
            <p:nvPr/>
          </p:nvSpPr>
          <p:spPr>
            <a:xfrm>
              <a:off x="531025" y="5128108"/>
              <a:ext cx="1906971" cy="217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lt1"/>
                  </a:solidFill>
                  <a:latin typeface="Poppins"/>
                  <a:ea typeface="Poppins"/>
                  <a:cs typeface="Poppins"/>
                  <a:sym typeface="Poppins"/>
                </a:rPr>
                <a:t>Himanshu Joshi</a:t>
              </a:r>
              <a:endParaRPr sz="2400" b="1" dirty="0">
                <a:solidFill>
                  <a:schemeClr val="lt1"/>
                </a:solidFill>
                <a:latin typeface="Poppins"/>
                <a:ea typeface="Poppins"/>
                <a:cs typeface="Poppins"/>
                <a:sym typeface="Poppins"/>
              </a:endParaRPr>
            </a:p>
          </p:txBody>
        </p:sp>
      </p:grpSp>
    </p:spTree>
  </p:cSld>
  <p:clrMapOvr>
    <a:masterClrMapping/>
  </p:clrMapOvr>
</p:sld>
</file>

<file path=ppt/theme/theme1.xml><?xml version="1.0" encoding="utf-8"?>
<a:theme xmlns:a="http://schemas.openxmlformats.org/drawingml/2006/main" name="Office Theme">
  <a:themeElements>
    <a:clrScheme name="zomato">
      <a:dk1>
        <a:srgbClr val="000000"/>
      </a:dk1>
      <a:lt1>
        <a:srgbClr val="FFFFFF"/>
      </a:lt1>
      <a:dk2>
        <a:srgbClr val="000000"/>
      </a:dk2>
      <a:lt2>
        <a:srgbClr val="FFFFFF"/>
      </a:lt2>
      <a:accent1>
        <a:srgbClr val="CF142F"/>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599</Words>
  <Application>Microsoft Office PowerPoint</Application>
  <PresentationFormat>Widescreen</PresentationFormat>
  <Paragraphs>81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Arial</vt:lpstr>
      <vt:lpstr>Poppins</vt:lpstr>
      <vt:lpstr>Office Theme</vt:lpstr>
      <vt:lpstr>Zomato  Analytics Dashboard</vt:lpstr>
      <vt:lpstr>Introduction</vt:lpstr>
      <vt:lpstr>Objectives</vt:lpstr>
      <vt:lpstr>Data Overview</vt:lpstr>
      <vt:lpstr>Process Involved</vt:lpstr>
      <vt:lpstr>Tools Used</vt:lpstr>
      <vt:lpstr>Excel Dashboard</vt:lpstr>
      <vt:lpstr>Excel Dashboard</vt:lpstr>
      <vt:lpstr>PowerPoint Presentation</vt:lpstr>
      <vt:lpstr>PowerPoint Presentation</vt:lpstr>
      <vt:lpstr>PowerPoint Presentation</vt:lpstr>
      <vt:lpstr>PowerPoint Presentation</vt:lpstr>
      <vt:lpstr>PowerPoint Presentation</vt:lpstr>
      <vt:lpstr>SQL</vt:lpstr>
      <vt:lpstr>Insights</vt:lpstr>
      <vt:lpstr>Recommendations</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Hariom Chaudhary</dc:creator>
  <cp:lastModifiedBy>himanshu joshi joshi</cp:lastModifiedBy>
  <cp:revision>4</cp:revision>
  <dcterms:modified xsi:type="dcterms:W3CDTF">2026-03-23T08:43:36Z</dcterms:modified>
</cp:coreProperties>
</file>